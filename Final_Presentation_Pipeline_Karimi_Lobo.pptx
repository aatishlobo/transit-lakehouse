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left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~121 words @ 165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Kafka, and we run four topics. Two of them carry the raw feeds,</a:t>
            </a:r>
          </a:p>
          <a:p>
            <a:r>
              <a:t>predictions and vehicle positions. A third is a dead letter topic for records</a:t>
            </a:r>
          </a:p>
          <a:p>
            <a:r>
              <a:t>that fail validation, so one malformed row degrades the run rather than stopping</a:t>
            </a:r>
          </a:p>
          <a:p>
            <a:r>
              <a:t>it. The fourth carries the arrivals we derive, so anything downstream can consume</a:t>
            </a:r>
          </a:p>
          <a:p>
            <a:r>
              <a:t>them without touching our code.</a:t>
            </a:r>
          </a:p>
          <a:p/>
          <a:p>
            <a:r>
              <a:t>The three data topics get three partitions each, while the dead letter gets one,</a:t>
            </a:r>
          </a:p>
          <a:p>
            <a:r>
              <a:t>because ordering between unrelated broken records is meaningless. We chose three</a:t>
            </a:r>
          </a:p>
          <a:p>
            <a:r>
              <a:t>deliberately rather than accepting a default, because partition count is</a:t>
            </a:r>
          </a:p>
          <a:p>
            <a:r>
              <a:t>effectively permanent: Kafka routes by hashing the key against it, so adding a</a:t>
            </a:r>
          </a:p>
          <a:p>
            <a:r>
              <a:t>partition later re-routes keys and breaks per-trip ordering retroactively, for</a:t>
            </a:r>
          </a:p>
          <a:p>
            <a:r>
              <a:t>data already written.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Name what each topic is FOR. The partition point is the design choice being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~125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across four consecutive polls. The status field comes</a:t>
            </a:r>
          </a:p>
          <a:p>
            <a:r>
              <a:t>straight from the feed, so when Muni's own equipment reports STOPPED_AT at stop</a:t>
            </a:r>
          </a:p>
          <a:p>
            <a:r>
              <a:t>four, we are reading that rather than inferring it. What we derive is the</a:t>
            </a:r>
          </a:p>
          <a:p>
            <a:r>
              <a:t>arrival: the moment that status first appears for that stop. We take the first</a:t>
            </a:r>
          </a:p>
          <a:p>
            <a:r>
              <a:t>sighting rather than the last, because a parked vehicle keeps reporting stopped</a:t>
            </a:r>
          </a:p>
          <a:p>
            <a:r>
              <a:t>on every poll, so the last one would measure departure. That derived sentence,</a:t>
            </a:r>
          </a:p>
          <a:p>
            <a:r>
              <a:t>this trip arrived at stop four at 14:54:31, exists nowhere in the source data,</a:t>
            </a:r>
          </a:p>
          <a:p>
            <a:r>
              <a:t>and producing it requires the resolver to hold per-trip state, which is exactly</a:t>
            </a:r>
          </a:p>
          <a:p>
            <a:r>
              <a:t>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read-vs-derived distinction is the point. First-vs-last is now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Calibri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Calibri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Calibri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Calibri"/>
              </a:rPr>
              <a:t>arrived</a:t>
            </a:r>
            <a:r>
              <a:rPr sz="2100" b="0">
                <a:solidFill>
                  <a:srgbClr val="1A1F2B"/>
                </a:solidFill>
                <a:latin typeface="Calibri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Calibri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Calibri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Calibri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Calibri"/>
              </a:rPr>
              <a:t>User:</a:t>
            </a:r>
            <a:r>
              <a:rPr sz="1500" b="0">
                <a:solidFill>
                  <a:srgbClr val="5B667A"/>
                </a:solidFill>
                <a:latin typeface="Calibri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Borna: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Aatish: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511.org</a:t>
            </a:r>
            <a:r>
              <a:rPr sz="1600" b="0">
                <a:solidFill>
                  <a:srgbClr val="1A1F2B"/>
                </a:solidFill>
                <a:latin typeface="Calibri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Calibri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Calibri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500" b="1">
                <a:solidFill>
                  <a:srgbClr val="1A1F2B"/>
                </a:solidFill>
                <a:latin typeface="Calibri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Calibri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Calibri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Calibri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"arrival_uncertainty": </a:t>
            </a:r>
            <a:r>
              <a:rPr sz="1250" b="1">
                <a:solidFill>
                  <a:srgbClr val="B45309"/>
                </a:solidFill>
                <a:latin typeface="Consolas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44.2%</a:t>
            </a:r>
            <a:r>
              <a:rPr sz="1400" b="0">
                <a:solidFill>
                  <a:srgbClr val="B45309"/>
                </a:solidFill>
                <a:latin typeface="Calibri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14:54:31   </a:t>
            </a:r>
            <a:r>
              <a:rPr sz="1350" b="1">
                <a:solidFill>
                  <a:srgbClr val="B45309"/>
                </a:solidFill>
                <a:latin typeface="Consolas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READ from the feed: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`current_status` is a published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GTFS-RT field — we don't infer it.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DERIVED by us: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the arrival — the moment that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status *first* appears for a stop.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First, not last: a parked vehicle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reports it every poll, so the last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would be </a:t>
            </a:r>
            <a:r>
              <a:rPr sz="1400" b="1">
                <a:solidFill>
                  <a:srgbClr val="1A1F2B"/>
                </a:solidFill>
                <a:latin typeface="Calibri"/>
              </a:rPr>
              <a:t>departure</a:t>
            </a:r>
            <a:r>
              <a:rPr sz="14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Calibri"/>
              </a:rPr>
              <a:t>how</a:t>
            </a:r>
            <a:r>
              <a:rPr sz="1400" b="0">
                <a:solidFill>
                  <a:srgbClr val="5B667A"/>
                </a:solidFill>
                <a:latin typeface="Calibri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Calibri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Calibri"/>
              </a:rPr>
              <a:t>one of </a:t>
            </a:r>
            <a:r>
              <a:rPr sz="1500" b="1">
                <a:solidFill>
                  <a:srgbClr val="5B667A"/>
                </a:solidFill>
                <a:latin typeface="Calibri"/>
              </a:rPr>
              <a:t>25,501</a:t>
            </a:r>
            <a:r>
              <a:rPr sz="1500" b="0">
                <a:solidFill>
                  <a:srgbClr val="5B667A"/>
                </a:solidFill>
                <a:latin typeface="Calibri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Calibri"/>
              </a:rPr>
              <a:t>independent</a:t>
            </a:r>
            <a:r>
              <a:rPr sz="1350" b="0">
                <a:solidFill>
                  <a:srgbClr val="5B667A"/>
                </a:solidFill>
                <a:latin typeface="Calibri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Calibri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Calibri"/>
              </a:rPr>
              <a:t>improved</a:t>
            </a:r>
            <a:r>
              <a:rPr sz="1550" b="0">
                <a:solidFill>
                  <a:srgbClr val="1A1F2B"/>
                </a:solidFill>
                <a:latin typeface="Calibri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Calibri"/>
              </a:rPr>
              <a:t>only</a:t>
            </a:r>
            <a:r>
              <a:rPr sz="1550" b="0">
                <a:solidFill>
                  <a:srgbClr val="1A1F2B"/>
                </a:solidFill>
                <a:latin typeface="Calibri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Calibri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Calibri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Calibri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dwell, so </a:t>
            </a:r>
            <a:r>
              <a:rPr sz="1350" b="1">
                <a:solidFill>
                  <a:srgbClr val="1A1F2B"/>
                </a:solidFill>
                <a:latin typeface="Calibri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Calibri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2200" b="0">
                <a:solidFill>
                  <a:srgbClr val="1A1F2B"/>
                </a:solidFill>
                <a:latin typeface="Consolas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Calibri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Calibri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Calibri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Calibri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