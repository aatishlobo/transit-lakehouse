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[10s  |  BORNA  |  ~27 words @ 162 wpm]</a:t>
            </a:r>
          </a:p>
          <a:p>
            <a:r>
              <a:t>==============================================================</a:t>
            </a:r>
          </a:p>
          <a:p/>
          <a:p>
            <a:r>
              <a:t>We measure how late Bay Area transit actually is. The catch that shaped this</a:t>
            </a:r>
          </a:p>
          <a:p>
            <a:r>
              <a:t>whole project is that no agency publishes that number, so we derive it.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Don't linger — the hook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[48s  |  BORNA  |  ~131 words @ 164 wpm]</a:t>
            </a:r>
          </a:p>
          <a:p>
            <a:r>
              <a:t>==============================================================</a:t>
            </a:r>
          </a:p>
          <a:p/>
          <a:p>
            <a:r>
              <a:t>Transit agencies publish two live feeds, and between them you would think this</a:t>
            </a:r>
          </a:p>
          <a:p>
            <a:r>
              <a:t>question was already answered. TripUpdates gives you predictions: a bus will</a:t>
            </a:r>
          </a:p>
          <a:p>
            <a:r>
              <a:t>reach stop 22 at 15:07. VehiclePositions gives you GPS: bus 4821 is at this</a:t>
            </a:r>
          </a:p>
          <a:p>
            <a:r>
              <a:t>coordinate right now. But notice what neither of them ever says, which is that</a:t>
            </a:r>
          </a:p>
          <a:p>
            <a:r>
              <a:t>the bus actually arrived. That fact is not published by anyone, so it has to be</a:t>
            </a:r>
          </a:p>
          <a:p>
            <a:r>
              <a:t>derived from indirect evidence. And that is what makes this hard rather than</a:t>
            </a:r>
          </a:p>
          <a:p>
            <a:r>
              <a:t>tedious, because delay is actual minus scheduled, the scheduled time is published</a:t>
            </a:r>
          </a:p>
          <a:p>
            <a:r>
              <a:t>and exact, so every bit of error in our derived actual goes straight into the</a:t>
            </a:r>
          </a:p>
          <a:p>
            <a:r>
              <a:t>delay figure with nothing downstream able to catch it. Our user is a rider</a:t>
            </a:r>
          </a:p>
          <a:p>
            <a:r>
              <a:t>deciding whether to trust the estimate in their app.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Slow down from 'And that is what makes this hard' — it justifies everything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[36s  |  BORNA  |  ~88 words @ 147 wpm]</a:t>
            </a:r>
          </a:p>
          <a:p>
            <a:r>
              <a:t>==============================================================</a:t>
            </a:r>
          </a:p>
          <a:p/>
          <a:p>
            <a:r>
              <a:t>This is the whole talk in one picture, and we are going to walk it left to</a:t>
            </a:r>
          </a:p>
          <a:p>
            <a:r>
              <a:t>right. 511 gives us protobuf over HTTP. A poller writes those bytes straight to</a:t>
            </a:r>
          </a:p>
          <a:p>
            <a:r>
              <a:t>disk. A producer then decodes them, validates every record, and publishes to</a:t>
            </a:r>
          </a:p>
          <a:p>
            <a:r>
              <a:t>Kafka. A resolver turns GPS observations into arrivals, an aggregator joins those</a:t>
            </a:r>
          </a:p>
          <a:p>
            <a:r>
              <a:t>arrivals back against the original predictions, and that produces our answer.</a:t>
            </a:r>
          </a:p>
          <a:p>
            <a:r>
              <a:t>Finally a model learns the correction. Nine stages in total, and I will take the</a:t>
            </a:r>
          </a:p>
          <a:p>
            <a:r>
              <a:t>first four while Aatish takes the rest.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Point along the diagram as you go. Don't read every box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 |  BORNA  |  ~111 words @ 166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Stages one and two. Our source is a single consolidated 511 feed covering all</a:t>
            </a:r>
          </a:p>
          <a:p>
            <a:r>
              <a:t>twenty-eight Bay Area operators in one request, and that matters more than it</a:t>
            </a:r>
          </a:p>
          <a:p>
            <a:r>
              <a:t>sounds, because our quota is sixty requests an hour, which means we can only</a:t>
            </a:r>
          </a:p>
          <a:p>
            <a:r>
              <a:t>afford one poll every two minutes. The poller itself has one rule that everything</a:t>
            </a:r>
          </a:p>
          <a:p>
            <a:r>
              <a:t>downstream depends on, which is to write the raw bytes to disk before attempting</a:t>
            </a:r>
          </a:p>
          <a:p>
            <a:r>
              <a:t>to decode them. A decoding bug is recoverable, because the file is still there</a:t>
            </a:r>
          </a:p>
          <a:p>
            <a:r>
              <a:t>and we can reprocess it. A poll we never took is gone forever, because there is</a:t>
            </a:r>
          </a:p>
          <a:p>
            <a:r>
              <a:t>no history endpoint. So we make the irreversible step the cheap one.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Pause after the last sentence — it is the line people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[48s  |  BORNA  |  ~133 words @ 166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Stages three and four. The archive on disk is our system of record, and</a:t>
            </a:r>
          </a:p>
          <a:p>
            <a:r>
              <a:t>everything downstream reads from it. On the right is one real record as it enters</a:t>
            </a:r>
          </a:p>
          <a:p>
            <a:r>
              <a:t>Kafka, after validation. The key is service date plus trip ID, and the date is in</a:t>
            </a:r>
          </a:p>
          <a:p>
            <a:r>
              <a:t>there because trip IDs repeat every single day, so yesterday's version of this</a:t>
            </a:r>
          </a:p>
          <a:p>
            <a:r>
              <a:t>trip is genuinely a different journey. Now look at arrival uncertainty, because</a:t>
            </a:r>
          </a:p>
          <a:p>
            <a:r>
              <a:t>it is null rather than zero. Protobuf lets a field be genuinely absent, and</a:t>
            </a:r>
          </a:p>
          <a:p>
            <a:r>
              <a:t>absent means something quite different from zero. Zero means the vehicle is</a:t>
            </a:r>
          </a:p>
          <a:p>
            <a:r>
              <a:t>exactly on time. Absent means the agency told us nothing at all. Forty-four</a:t>
            </a:r>
          </a:p>
          <a:p>
            <a:r>
              <a:t>percent of records carry no delay value, and read the obvious way we would have</a:t>
            </a:r>
          </a:p>
          <a:p>
            <a:r>
              <a:t>called every single one of them perfectly on time.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Land 'perfectly on time', pause, then hand over to Aatish.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[44s  |  AATISH  |  ~122 words @ 166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 five is Kafka. Four topics, three partitions each, and two of these</a:t>
            </a:r>
          </a:p>
          <a:p>
            <a:r>
              <a:t>settings are worth explaining. Retention is twenty-four hours, and that is</a:t>
            </a:r>
          </a:p>
          <a:p>
            <a:r>
              <a:t>deliberate, because Kafka is transport for us rather than storage, and the</a:t>
            </a:r>
          </a:p>
          <a:p>
            <a:r>
              <a:t>archive Borna just described is what we actually keep. The cleanup policy is</a:t>
            </a:r>
          </a:p>
          <a:p>
            <a:r>
              <a:t>delete and never compact, and that one genuinely matters, because compaction</a:t>
            </a:r>
          </a:p>
          <a:p>
            <a:r>
              <a:t>keeps only the newest message per key and discards the rest, but our data is the</a:t>
            </a:r>
          </a:p>
          <a:p>
            <a:r>
              <a:t>history. We detect arrivals by watching a vehicle change state across consecutive</a:t>
            </a:r>
          </a:p>
          <a:p>
            <a:r>
              <a:t>observations, so compaction would throw away precisely the thing we read. And the</a:t>
            </a:r>
          </a:p>
          <a:p>
            <a:r>
              <a:t>message key puts every observation of one trip into one partition, in order,</a:t>
            </a:r>
          </a:p>
          <a:p>
            <a:r>
              <a:t>which turns out to be the whole game.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Ending on the key sets up the next slide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[50s  |  AATISH  |  ~133 words @ 160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 six, and this is the heart of the project. Here is one real vehicle, a</a:t>
            </a:r>
          </a:p>
          <a:p>
            <a:r>
              <a:t>Powell-Mason cable car, and across four consecutive polls you can watch it</a:t>
            </a:r>
          </a:p>
          <a:p>
            <a:r>
              <a:t>approach stop four, then report STOPPED_AT at stop four, and then move on to stop</a:t>
            </a:r>
          </a:p>
          <a:p>
            <a:r>
              <a:t>six. That transition is the arrival, and that sentence exists nowhere in the</a:t>
            </a:r>
          </a:p>
          <a:p>
            <a:r>
              <a:t>source data. We derived it. The subtlety is that it is the first stopped</a:t>
            </a:r>
          </a:p>
          <a:p>
            <a:r>
              <a:t>sighting, not the last, because a parked vehicle keeps reporting STOPPED_AT on</a:t>
            </a:r>
          </a:p>
          <a:p>
            <a:r>
              <a:t>every poll while it waits. So if you took the last one you would be measuring</a:t>
            </a:r>
          </a:p>
          <a:p>
            <a:r>
              <a:t>departure rather than arrival, and nothing would ever tell you that you had it</a:t>
            </a:r>
          </a:p>
          <a:p>
            <a:r>
              <a:t>wrong. Which means the resolver has to remember what it saw before, and that is</a:t>
            </a:r>
          </a:p>
          <a:p>
            <a:r>
              <a:t>exactly why the ordering guarantee matters.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The rubric asks for one concrete example. Trace the four lines with your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[43s  |  AATISH  |  ~104 words @ 145 wpm]</a:t>
            </a:r>
          </a:p>
          <a:p>
            <a:r>
              <a:t>==============================================================</a:t>
            </a:r>
          </a:p>
          <a:p/>
          <a:p>
            <a:r>
              <a:t>Stages seven and eight. Now we join our derived arrivals against what the</a:t>
            </a:r>
          </a:p>
          <a:p>
            <a:r>
              <a:t>agency actually predicted. For that same cable car, two minutes ahead of time</a:t>
            </a:r>
          </a:p>
          <a:p>
            <a:r>
              <a:t>Muni predicted 14:53:54, and it arrived at 14:54:31, so thirty-seven seconds</a:t>
            </a:r>
          </a:p>
          <a:p>
            <a:r>
              <a:t>later than promised. That is one data point, and the pipeline produces</a:t>
            </a:r>
          </a:p>
          <a:p>
            <a:r>
              <a:t>twenty-five thousand of them. Aggregated, the close-in predictions are genuinely</a:t>
            </a:r>
          </a:p>
          <a:p>
            <a:r>
              <a:t>excellent, around thirteen seconds off. But at twenty minutes out only</a:t>
            </a:r>
          </a:p>
          <a:p>
            <a:r>
              <a:t>twenty-three percent land within a minute, and the bias is negative at every</a:t>
            </a:r>
          </a:p>
          <a:p>
            <a:r>
              <a:t>horizon, meaning vehicles consistently arrive later than promised. This is only</a:t>
            </a:r>
          </a:p>
          <a:p>
            <a:r>
              <a:t>credible because the two halves come from completely different feeds.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Read one row of the table aloud, not five. The independence point is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[36s  |  AATISH  |  ~100 words @ 167 wpm]</a:t>
            </a:r>
          </a:p>
          <a:p>
            <a:r>
              <a:t>==============================================================</a:t>
            </a:r>
          </a:p>
          <a:p/>
          <a:p>
            <a:r>
              <a:t>Our best lesson came from a feature we deleted. Day of week improved our test</a:t>
            </a:r>
          </a:p>
          <a:p>
            <a:r>
              <a:t>error by ten seconds, and we removed it anyway. The reason is that Monday</a:t>
            </a:r>
          </a:p>
          <a:p>
            <a:r>
              <a:t>appeared only in our test window, so thirty-one percent of test rows carried a</a:t>
            </a:r>
          </a:p>
          <a:p>
            <a:r>
              <a:t>value the model had never seen during training, and those rows quietly inherited</a:t>
            </a:r>
          </a:p>
          <a:p>
            <a:r>
              <a:t>an adjacent day's correction through wherever the bin boundaries happened to</a:t>
            </a:r>
          </a:p>
          <a:p>
            <a:r>
              <a:t>fall. The gain was an artifact rather than learned structure. And every real bug</a:t>
            </a:r>
          </a:p>
          <a:p>
            <a:r>
              <a:t>we hit had that same shape: none of them crashed, and several produced</a:t>
            </a:r>
          </a:p>
          <a:p>
            <a:r>
              <a:t>better-looking numbers than the correct version.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Pause after 'we removed it anyway' and let the oddity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[38s  |  AATISH  |  ~108 words @ 171 wpm]</a:t>
            </a:r>
          </a:p>
          <a:p>
            <a:r>
              <a:t>==============================================================</a:t>
            </a:r>
          </a:p>
          <a:p/>
          <a:p>
            <a:r>
              <a:t>Our main limitation is coverage, because we catch only about twenty-one</a:t>
            </a:r>
          </a:p>
          <a:p>
            <a:r>
              <a:t>percent of stop events. Vehicles dwell at a stop for a matter of seconds while we</a:t>
            </a:r>
          </a:p>
          <a:p>
            <a:r>
              <a:t>sample every two minutes. And it is not random either, since the chance of</a:t>
            </a:r>
          </a:p>
          <a:p>
            <a:r>
              <a:t>catching a stop scales with how long the vehicle sits there, so terminals and</a:t>
            </a:r>
          </a:p>
          <a:p>
            <a:r>
              <a:t>layovers end up over-represented and our derived arrivals skew late. That means</a:t>
            </a:r>
          </a:p>
          <a:p>
            <a:r>
              <a:t>the optimism we measured should be read as an upper bound rather than a point</a:t>
            </a:r>
          </a:p>
          <a:p>
            <a:r>
              <a:t>estimate. So our next step is deliberately small: one email to 511 requesting a</a:t>
            </a:r>
          </a:p>
          <a:p>
            <a:r>
              <a:t>higher rate limit, which attacks all three of those problems at once.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Being honest about the upper bound is worth marks. Don't soften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[12s  |  EITHER  |  ~29 words @ 145 wpm]</a:t>
            </a:r>
          </a:p>
          <a:p>
            <a:r>
              <a:t>==============================================================</a:t>
            </a:r>
          </a:p>
          <a:p/>
          <a:p>
            <a:r>
              <a:t>All of that runs from a single command, with no API key, in about two minutes,</a:t>
            </a:r>
          </a:p>
          <a:p>
            <a:r>
              <a:t>covering eighty-three tests and six acceptance checks. We are happy to take</a:t>
            </a:r>
          </a:p>
          <a:p>
            <a:r>
              <a:t>questions.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Then stop talking. Leave the full minute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[0s  |  APPENDIX  |  ~177 words @ 0 wpm]</a:t>
            </a:r>
          </a:p>
          <a:p>
            <a:r>
              <a:t>==============================================================</a:t>
            </a:r>
          </a:p>
          <a:p/>
          <a:p>
            <a:r>
              <a:t>Not presented — this is backup in case we are asked about the AI element.</a:t>
            </a:r>
          </a:p>
          <a:p/>
          <a:p>
            <a:r>
              <a:t>We predict the residual, which is the actual arrival minus the predicted arrival,</a:t>
            </a:r>
          </a:p>
          <a:p>
            <a:r>
              <a:t>and we apply it as a correction on top of the agency's own estimate. Predicting</a:t>
            </a:r>
          </a:p>
          <a:p>
            <a:r>
              <a:t>zero is identical to trusting the agency, so the baseline comparison is exact</a:t>
            </a:r>
          </a:p>
          <a:p>
            <a:r>
              <a:t>rather than approximate. The interesting result is that both naive bias</a:t>
            </a:r>
          </a:p>
          <a:p>
            <a:r>
              <a:t>corrections perform worse than doing nothing at all, because residuals are</a:t>
            </a:r>
          </a:p>
          <a:p>
            <a:r>
              <a:t>heavily right-skewed, with a mean of plus 213 seconds against a median of plus</a:t>
            </a:r>
          </a:p>
          <a:p>
            <a:r>
              <a:t>111, so adding the mean overcorrects the typical case. The model earns its</a:t>
            </a:r>
          </a:p>
          <a:p>
            <a:r>
              <a:t>fourteen point seven percent improvement by learning a correction that depends on</a:t>
            </a:r>
          </a:p>
          <a:p>
            <a:r>
              <a:t>horizon, hour and route rather than applying a constant.</a:t>
            </a:r>
          </a:p>
          <a:p/>
          <a:p>
            <a:r>
              <a:t>On leakage: our labels come from GPS positions and our features come from</a:t>
            </a:r>
          </a:p>
          <a:p>
            <a:r>
              <a:t>predictions, so they are different feeds and the label cannot contain the</a:t>
            </a:r>
          </a:p>
          <a:p>
            <a:r>
              <a:t>feature. We also excluded lead time as a feature because it contains the target,</a:t>
            </a:r>
          </a:p>
          <a:p>
            <a:r>
              <a:t>and we split the data strictly forward in time rather than randomly.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200" b="1">
                <a:solidFill>
                  <a:srgbClr val="1A1F2B"/>
                </a:solidFill>
                <a:latin typeface="Calibri"/>
              </a:rPr>
              <a:t>Real-Time Transit Reliability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5B667A"/>
                </a:solidFill>
                <a:latin typeface="Calibri"/>
              </a:rPr>
              <a:t>Deriving arrival times that no agency publishes 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5B667A"/>
                </a:solidFill>
                <a:latin typeface="Calibri"/>
              </a:rPr>
              <a:t>and grading the predictions riders actually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182880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Calibri"/>
              </a:rPr>
              <a:t>Borna Karimi  ·  Aatish Lobo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Calibri"/>
              </a:rPr>
              <a:t>MSDS 682 — Data Stream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1773224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64664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997809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89249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222394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3834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5446979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38419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6671563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3003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7896148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87588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9120733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2173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10345318" y="586587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36758" y="562356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67A"/>
                </a:solidFill>
                <a:latin typeface="Calibri"/>
              </a:rPr>
              <a:t>Data provided by 511.org (Metropolitan Transportation Commission)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Nobody publishes when a bus arrives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95747" cy="12344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3854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TripUpdates — </a:t>
            </a:r>
            <a:r>
              <a:rPr sz="1600" b="1">
                <a:solidFill>
                  <a:srgbClr val="1A1F2B"/>
                </a:solidFill>
                <a:latin typeface="Calibri"/>
              </a:rPr>
              <a:t>predictions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“will reach stop 22 at 15:07”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920240"/>
            <a:ext cx="5295747" cy="12344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4467" y="2103120"/>
            <a:ext cx="483854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VehiclePositions — </a:t>
            </a:r>
            <a:r>
              <a:rPr sz="1600" b="1">
                <a:solidFill>
                  <a:srgbClr val="1A1F2B"/>
                </a:solidFill>
                <a:latin typeface="Calibri"/>
              </a:rPr>
              <a:t>GPS pings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“bus 4821 is here, now”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1A1F2B"/>
                </a:solidFill>
                <a:latin typeface="Calibri"/>
              </a:rPr>
              <a:t>Neither ever says: “bus 4821 </a:t>
            </a:r>
            <a:r>
              <a:rPr sz="2100" b="1">
                <a:solidFill>
                  <a:srgbClr val="1A1F2B"/>
                </a:solidFill>
                <a:latin typeface="Calibri"/>
              </a:rPr>
              <a:t>arrived</a:t>
            </a:r>
            <a:r>
              <a:rPr sz="2100" b="0">
                <a:solidFill>
                  <a:srgbClr val="1A1F2B"/>
                </a:solidFill>
                <a:latin typeface="Calibri"/>
              </a:rPr>
              <a:t> at stop 22 at 15:09.”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delay = actual − scheduled,  and </a:t>
            </a:r>
            <a:r>
              <a:rPr sz="1800" b="1">
                <a:solidFill>
                  <a:srgbClr val="1A1F2B"/>
                </a:solidFill>
                <a:latin typeface="Calibri"/>
              </a:rPr>
              <a:t>scheduled is exact</a:t>
            </a:r>
            <a:r>
              <a:rPr sz="1800" b="0">
                <a:solidFill>
                  <a:srgbClr val="1A1F2B"/>
                </a:solidFill>
                <a:latin typeface="Calibri"/>
              </a:rPr>
              <a:t> —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so every error in our derivation lands </a:t>
            </a:r>
            <a:r>
              <a:rPr sz="1800" b="1">
                <a:solidFill>
                  <a:srgbClr val="1A1F2B"/>
                </a:solidFill>
                <a:latin typeface="Calibri"/>
              </a:rPr>
              <a:t>straight in the answer</a:t>
            </a:r>
            <a:r>
              <a:rPr sz="1800" b="0">
                <a:solidFill>
                  <a:srgbClr val="1A1F2B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B667A"/>
                </a:solidFill>
                <a:latin typeface="Calibri"/>
              </a:rPr>
              <a:t>User:</a:t>
            </a:r>
            <a:r>
              <a:rPr sz="1500" b="0">
                <a:solidFill>
                  <a:srgbClr val="5B667A"/>
                </a:solidFill>
                <a:latin typeface="Calibri"/>
              </a:rPr>
              <a:t> a rider deciding whether to trust the ETA in their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The whole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B667A"/>
                </a:solidFill>
                <a:latin typeface="Calibri"/>
              </a:rPr>
              <a:t>We'll walk it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1. 511 feed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protobuf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49424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2. poller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archive first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96512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3. data/raw/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system of record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4. producer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validate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90688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965960"/>
            <a:ext cx="1572768" cy="73152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5. Kafka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4 topics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37776" y="2258568"/>
            <a:ext cx="201168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54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6. resolver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GPS → arrivals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02736" y="3493008"/>
            <a:ext cx="27432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7. aggregator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join predictions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88736" y="3493008"/>
            <a:ext cx="27432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8. outputs/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the metrics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174736" y="3493008"/>
            <a:ext cx="27432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32004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9. model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learn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434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Borna:</a:t>
            </a:r>
            <a:r>
              <a:rPr sz="1700" b="0">
                <a:solidFill>
                  <a:srgbClr val="1A1F2B"/>
                </a:solidFill>
                <a:latin typeface="Calibri"/>
              </a:rPr>
              <a:t> stages 1–4, getting the data in and validated.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Aatish:</a:t>
            </a:r>
            <a:r>
              <a:rPr sz="1700" b="0">
                <a:solidFill>
                  <a:srgbClr val="1A1F2B"/>
                </a:solidFill>
                <a:latin typeface="Calibri"/>
              </a:rPr>
              <a:t> stages 5–9, turning it into an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1–2 · The source, and one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120640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511.org</a:t>
            </a:r>
            <a:r>
              <a:rPr sz="1600" b="0">
                <a:solidFill>
                  <a:srgbClr val="1A1F2B"/>
                </a:solidFill>
                <a:latin typeface="Calibri"/>
              </a:rPr>
              <a:t> — one regional feed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28 operators</a:t>
            </a:r>
            <a:r>
              <a:rPr sz="1600" b="0">
                <a:solidFill>
                  <a:srgbClr val="1A1F2B"/>
                </a:solidFill>
                <a:latin typeface="Calibri"/>
              </a:rPr>
              <a:t>, GTFS-Realtime protobuf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60 requests/hour</a:t>
            </a:r>
            <a:r>
              <a:rPr sz="1600" b="0">
                <a:solidFill>
                  <a:srgbClr val="1A1F2B"/>
                </a:solidFill>
                <a:latin typeface="Calibri"/>
              </a:rPr>
              <a:t> → one poll per 120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54251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The quota is not just a limit 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it is the </a:t>
            </a:r>
            <a:r>
              <a:rPr sz="1500" b="1">
                <a:solidFill>
                  <a:srgbClr val="1A1F2B"/>
                </a:solidFill>
                <a:latin typeface="Calibri"/>
              </a:rPr>
              <a:t>precision limit</a:t>
            </a:r>
            <a:r>
              <a:rPr sz="1500" b="0">
                <a:solidFill>
                  <a:srgbClr val="1A1F2B"/>
                </a:solidFill>
                <a:latin typeface="Calibri"/>
              </a:rPr>
              <a:t> on every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arrival we derive. So it travels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with every row as `poll_interval_s`.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40"/>
            <a:ext cx="10911535" cy="118872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E8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2714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Write raw bytes to disk BEFORE decoding.</a:t>
            </a:r>
            <a:r>
              <a:rPr sz="1600" b="0">
                <a:solidFill>
                  <a:srgbClr val="1A1F2B"/>
                </a:solidFill>
                <a:latin typeface="Calibri"/>
              </a:rPr>
              <a:t>  A decode bug is recoverable — reprocess the file.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A poll never taken is gone forever. </a:t>
            </a:r>
            <a:r>
              <a:rPr sz="1600" b="1">
                <a:solidFill>
                  <a:srgbClr val="1A1F2B"/>
                </a:solidFill>
                <a:latin typeface="Calibri"/>
              </a:rPr>
              <a:t>Make the irreversible step the cheap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1. 511 feed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2. poller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3–4 · Archive, then a validated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5943600" cy="31089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key = "20260806:SF:12086593_M11"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"envelope":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"poll_interval_s": 120,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"ingest_ts": "...",       // when WE got it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},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"trip":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"trip_id":      "SF:12086593_M11",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"route_id":     "SF:PM",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"service_date": "20260806"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},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"stop_sequence":       4,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"arrival_time_epoch":  1786053234,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"arrival_uncertainty": </a:t>
            </a:r>
            <a:r>
              <a:rPr sz="1250" b="1">
                <a:solidFill>
                  <a:srgbClr val="B45309"/>
                </a:solidFill>
                <a:latin typeface="Consolas"/>
              </a:rPr>
              <a:t>null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920240"/>
            <a:ext cx="46021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Key = service_date : trip_id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trip IDs repeat every day, and this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keeps one trip in one partition,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46120"/>
            <a:ext cx="4602175" cy="178308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E8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3429000"/>
            <a:ext cx="41449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null ≠ 0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Calibri"/>
              </a:rPr>
              <a:t>`0` = exactly on time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Calibri"/>
              </a:rPr>
              <a:t>absent = no information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44.2%</a:t>
            </a:r>
            <a:r>
              <a:rPr sz="1400" b="0">
                <a:solidFill>
                  <a:srgbClr val="B45309"/>
                </a:solidFill>
                <a:latin typeface="Calibri"/>
              </a:rPr>
              <a:t> of records have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Calibri"/>
              </a:rPr>
              <a:t>no delay value at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3. archive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4. producer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5 · Kafka — and why these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6E99"/>
                </a:solidFill>
                <a:latin typeface="Calibri"/>
              </a:rPr>
              <a:t>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74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6E99"/>
                </a:solidFill>
                <a:latin typeface="Calibri"/>
              </a:rPr>
              <a:t>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874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6E99"/>
                </a:solidFill>
                <a:latin typeface="Calibri"/>
              </a:rPr>
              <a:t>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gtfsrt.trip_updates.v1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219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219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gtfsrt.vehicle_positions.v1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32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32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24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43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gtfsrt.dead_letter.v1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7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transit.arrival_events.v1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54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154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7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74520"/>
            <a:ext cx="487649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retention = 24 h, on purpose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Kafka is transport. The archive is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storage.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delete, never compact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Compaction keeps only the newest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message per key — it would discard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the state transitions we read.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3 partitions, chosen not defaulted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Count is effectively permanent: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changing it re-routes keys and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breaks ordering retroactively.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5. Kafka</a:t>
            </a:r>
          </a:p>
        </p:txBody>
      </p:sp>
      <p:sp>
        <p:nvSpPr>
          <p:cNvPr id="31" name="Right Triangle 30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33" name="Right Triangle 32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35" name="Right Triangle 34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37" name="Right Triangle 36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6 · The resolver — one real vehicle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6309360" cy="2148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50" b="0">
                <a:solidFill>
                  <a:srgbClr val="1A1F2B"/>
                </a:solidFill>
                <a:latin typeface="Consolas"/>
              </a:rPr>
              <a:t>Powell–Mason cable car, trip SF:12086593_M11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50" b="0">
                <a:solidFill>
                  <a:srgbClr val="1A1F2B"/>
                </a:solidFill>
                <a:latin typeface="Consolas"/>
              </a:rPr>
              <a:t>14:52:43   IN_TRANSIT_TO   stop_sequence 4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50" b="0">
                <a:solidFill>
                  <a:srgbClr val="1A1F2B"/>
                </a:solidFill>
                <a:latin typeface="Consolas"/>
              </a:rPr>
              <a:t>14:54:31   </a:t>
            </a:r>
            <a:r>
              <a:rPr sz="1350" b="1">
                <a:solidFill>
                  <a:srgbClr val="B45309"/>
                </a:solidFill>
                <a:latin typeface="Consolas"/>
              </a:rPr>
              <a:t>STOPPED_AT      stop_sequence 4     &lt;- ARRIVED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50" b="0">
                <a:solidFill>
                  <a:srgbClr val="1A1F2B"/>
                </a:solidFill>
                <a:latin typeface="Consolas"/>
              </a:rPr>
              <a:t>14:56:50   STOPPED_AT      stop_sequence 6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50" b="0">
                <a:solidFill>
                  <a:srgbClr val="1A1F2B"/>
                </a:solidFill>
                <a:latin typeface="Consolas"/>
              </a:rPr>
              <a:t>14:59:55   STOPPED_AT      stop_sequence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20"/>
            <a:ext cx="4236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That sentence exists </a:t>
            </a:r>
            <a:r>
              <a:rPr sz="1400" b="1">
                <a:solidFill>
                  <a:srgbClr val="1A1F2B"/>
                </a:solidFill>
                <a:latin typeface="Calibri"/>
              </a:rPr>
              <a:t>nowhere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in the source data.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It is the </a:t>
            </a:r>
            <a:r>
              <a:rPr sz="1400" b="1">
                <a:solidFill>
                  <a:srgbClr val="1A1F2B"/>
                </a:solidFill>
                <a:latin typeface="Calibri"/>
              </a:rPr>
              <a:t>first</a:t>
            </a:r>
            <a:r>
              <a:rPr sz="1400" b="0">
                <a:solidFill>
                  <a:srgbClr val="1A1F2B"/>
                </a:solidFill>
                <a:latin typeface="Calibri"/>
              </a:rPr>
              <a:t> stopped sighting —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 parked vehicle reports STOPPED_AT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on every poll, so the last one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would measure </a:t>
            </a:r>
            <a:r>
              <a:rPr sz="1400" b="1">
                <a:solidFill>
                  <a:srgbClr val="1A1F2B"/>
                </a:solidFill>
                <a:latin typeface="Calibri"/>
              </a:rPr>
              <a:t>departure</a:t>
            </a:r>
            <a:r>
              <a:rPr sz="1400" b="0">
                <a:solidFill>
                  <a:srgbClr val="1A1F2B"/>
                </a:solidFill>
                <a:latin typeface="Calibri"/>
              </a:rPr>
              <a:t>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So the resolver holds per-trip state —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which is why </a:t>
            </a:r>
            <a:r>
              <a:rPr sz="1400" b="1">
                <a:solidFill>
                  <a:srgbClr val="1A1F2B"/>
                </a:solidFill>
                <a:latin typeface="Calibri"/>
              </a:rPr>
              <a:t>ordering</a:t>
            </a:r>
            <a:r>
              <a:rPr sz="1400" b="0">
                <a:solidFill>
                  <a:srgbClr val="1A1F2B"/>
                </a:solidFill>
                <a:latin typeface="Calibri"/>
              </a:rPr>
              <a:t>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Every arrival is stamped with </a:t>
            </a:r>
            <a:r>
              <a:rPr sz="1400" b="1">
                <a:solidFill>
                  <a:srgbClr val="5B667A"/>
                </a:solidFill>
                <a:latin typeface="Calibri"/>
              </a:rPr>
              <a:t>how</a:t>
            </a:r>
            <a:r>
              <a:rPr sz="1400" b="0">
                <a:solidFill>
                  <a:srgbClr val="5B667A"/>
                </a:solidFill>
                <a:latin typeface="Calibri"/>
              </a:rPr>
              <a:t> it was derived: method, confidence, poll_interval_s.  Only 15 of 28 operators support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6. resolver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7–8 · Join, and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Our cable car: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predicted 14:53:54 · arrived 14:54:31 → 37 s 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67A"/>
                </a:solidFill>
                <a:latin typeface="Calibri"/>
              </a:rPr>
              <a:t>one of </a:t>
            </a:r>
            <a:r>
              <a:rPr sz="1500" b="1">
                <a:solidFill>
                  <a:srgbClr val="5B667A"/>
                </a:solidFill>
                <a:latin typeface="Calibri"/>
              </a:rPr>
              <a:t>25,501</a:t>
            </a:r>
            <a:r>
              <a:rPr sz="1500" b="0">
                <a:solidFill>
                  <a:srgbClr val="5B667A"/>
                </a:solidFill>
                <a:latin typeface="Calibri"/>
              </a:rPr>
              <a:t> pairs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6675120" cy="1905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Calibri"/>
              </a:rPr>
              <a:t>lead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9184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918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Calibri"/>
              </a:rPr>
              <a:t>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Calibri"/>
              </a:rPr>
              <a:t>med |err|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9184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Calibri"/>
              </a:rPr>
              <a:t>&lt;60s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0–2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393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509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393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−11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3931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13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393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92.7%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4106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2–5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94106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4,603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94106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−46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94106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50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94106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59.5%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4281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5–10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24281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4,897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24281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−66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4281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70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24281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43.3%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4456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10–20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54456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8,919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445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−98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445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102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54456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31.1%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463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20+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8463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6,573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8463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B45309"/>
                </a:solidFill>
                <a:latin typeface="Calibri"/>
              </a:rPr>
              <a:t>−142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846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146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8463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23.0%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337560"/>
            <a:ext cx="3779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Calibri"/>
              </a:rPr>
              <a:t>Credible only because the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Calibri"/>
              </a:rPr>
              <a:t>two halves are </a:t>
            </a:r>
            <a:r>
              <a:rPr sz="1350" b="1">
                <a:solidFill>
                  <a:srgbClr val="5B667A"/>
                </a:solidFill>
                <a:latin typeface="Calibri"/>
              </a:rPr>
              <a:t>independent</a:t>
            </a:r>
            <a:r>
              <a:rPr sz="1350" b="0">
                <a:solidFill>
                  <a:srgbClr val="5B667A"/>
                </a:solidFill>
                <a:latin typeface="Calibri"/>
              </a:rPr>
              <a:t>: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Calibri"/>
              </a:rPr>
              <a:t>predicted ← TripUpdates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Calibri"/>
              </a:rPr>
              <a:t>actual ← VehiclePositions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Calibri"/>
              </a:rPr>
              <a:t>Deriving one from the other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5B667A"/>
                </a:solidFill>
                <a:latin typeface="Calibri"/>
              </a:rPr>
              <a:t>measures the agency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5B667A"/>
                </a:solidFill>
                <a:latin typeface="Calibri"/>
              </a:rPr>
              <a:t>against itself.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42" name="Right Triangle 41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44" name="Right Triangle 43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46" name="Right Triangle 45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48" name="Right Triangle 47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50" name="Right Triangle 49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52" name="Right Triangle 51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7. aggregator</a:t>
            </a:r>
          </a:p>
        </p:txBody>
      </p:sp>
      <p:sp>
        <p:nvSpPr>
          <p:cNvPr id="54" name="Right Triangle 53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E8F1F7"/>
          </a:solidFill>
          <a:ln w="19050">
            <a:solidFill>
              <a:srgbClr val="0B6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A1F2B"/>
                </a:solidFill>
                <a:latin typeface="Calibri"/>
              </a:rPr>
              <a:t>8. outputs</a:t>
            </a:r>
          </a:p>
        </p:txBody>
      </p:sp>
      <p:sp>
        <p:nvSpPr>
          <p:cNvPr id="56" name="Right Triangle 55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Lesson: the wrong answer looked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E8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2714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50" b="0">
                <a:solidFill>
                  <a:srgbClr val="1A1F2B"/>
                </a:solidFill>
                <a:latin typeface="Calibri"/>
              </a:rPr>
              <a:t>Day-of-week </a:t>
            </a:r>
            <a:r>
              <a:rPr sz="1550" b="1">
                <a:solidFill>
                  <a:srgbClr val="1A1F2B"/>
                </a:solidFill>
                <a:latin typeface="Calibri"/>
              </a:rPr>
              <a:t>improved</a:t>
            </a:r>
            <a:r>
              <a:rPr sz="1550" b="0">
                <a:solidFill>
                  <a:srgbClr val="1A1F2B"/>
                </a:solidFill>
                <a:latin typeface="Calibri"/>
              </a:rPr>
              <a:t> test error by 10 seconds. We deleted it.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50" b="0">
                <a:solidFill>
                  <a:srgbClr val="1A1F2B"/>
                </a:solidFill>
                <a:latin typeface="Calibri"/>
              </a:rPr>
              <a:t>Monday appeared </a:t>
            </a:r>
            <a:r>
              <a:rPr sz="1550" b="1">
                <a:solidFill>
                  <a:srgbClr val="1A1F2B"/>
                </a:solidFill>
                <a:latin typeface="Calibri"/>
              </a:rPr>
              <a:t>only</a:t>
            </a:r>
            <a:r>
              <a:rPr sz="1550" b="0">
                <a:solidFill>
                  <a:srgbClr val="1A1F2B"/>
                </a:solidFill>
                <a:latin typeface="Calibri"/>
              </a:rPr>
              <a:t> in the test window — 31% of test rows carried a value the model had never seen, inheriting another day's correction through bin 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B45309"/>
                </a:solidFill>
                <a:latin typeface="Calibri"/>
              </a:rPr>
              <a:t>A number you can't account for is not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Same shape as every real bug we hit — a mislabelled partition column, a duplicate replay that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doubled n while leaving every average identical. </a:t>
            </a:r>
            <a:r>
              <a:rPr sz="1500" b="1">
                <a:solidFill>
                  <a:srgbClr val="1A1F2B"/>
                </a:solidFill>
                <a:latin typeface="Calibri"/>
              </a:rPr>
              <a:t>None crashed. Several looked better.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Limitation, and the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5272887" cy="26517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242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Limitation —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2424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We capture only </a:t>
            </a:r>
            <a:r>
              <a:rPr sz="1350" b="1">
                <a:solidFill>
                  <a:srgbClr val="1A1F2B"/>
                </a:solidFill>
                <a:latin typeface="Calibri"/>
              </a:rPr>
              <a:t>~21% of stop events</a:t>
            </a:r>
            <a:r>
              <a:rPr sz="1350" b="0">
                <a:solidFill>
                  <a:srgbClr val="1A1F2B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Vehicles dwell for seconds; we sample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every 120 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And it isn't random — capture scales with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dwell, so </a:t>
            </a:r>
            <a:r>
              <a:rPr sz="1350" b="1">
                <a:solidFill>
                  <a:srgbClr val="1A1F2B"/>
                </a:solidFill>
                <a:latin typeface="Calibri"/>
              </a:rPr>
              <a:t>terminals are over-represented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and our arrivals skew late.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So the bias we report is an upper bound.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20"/>
            <a:ext cx="5272887" cy="26517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057400"/>
            <a:ext cx="47242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Next step — realistic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514600"/>
            <a:ext cx="472424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Email 511 for a rate-limit increase.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One email. It attacks all three at once: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more events captured, tighter timestamps,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less selection bias.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Then: GTFS-Static for true on-time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performance, and a geofence resolver for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the 13 operators where this method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can't fire.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1A1F2B"/>
                </a:solidFill>
                <a:latin typeface="Calibri"/>
              </a:rPr>
              <a:t>One command, no API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5120640" cy="8686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200" b="0">
                <a:solidFill>
                  <a:srgbClr val="1A1F2B"/>
                </a:solidFill>
                <a:latin typeface="Consolas"/>
              </a:rPr>
              <a:t>make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6974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5B667A"/>
                </a:solidFill>
                <a:latin typeface="Calibri"/>
              </a:rPr>
              <a:t>Kafka → replay → arrivals → metrics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5B667A"/>
                </a:solidFill>
                <a:latin typeface="Calibri"/>
              </a:rPr>
              <a:t>→ 6 acceptance checks, in </a:t>
            </a:r>
            <a:r>
              <a:rPr sz="1600" b="1">
                <a:solidFill>
                  <a:srgbClr val="5B667A"/>
                </a:solidFill>
                <a:latin typeface="Calibri"/>
              </a:rPr>
              <a:t>~2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83 tests  ·  6/6 acceptance checks  ·  1.67 M records replayed, 0 dead-lettered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Verified from a clean extract of the submitted ZIP.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6E99"/>
                </a:solidFill>
                <a:latin typeface="Calibri"/>
              </a:rPr>
              <a:t>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1. 511 feed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177322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6466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2. poller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299780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8924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3. archive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222394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3834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4. producer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5446979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38419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5. Kafka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667156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300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6. resolver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789614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8758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7. aggregator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9120733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12173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8. outputs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10345318" y="6185916"/>
            <a:ext cx="73152" cy="82296"/>
          </a:xfrm>
          <a:prstGeom prst="rtTriangle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36758" y="5943600"/>
            <a:ext cx="1114856" cy="566928"/>
          </a:xfrm>
          <a:prstGeom prst="roundRect">
            <a:avLst>
              <a:gd name="adj" fmla="val 18000"/>
            </a:avLst>
          </a:prstGeom>
          <a:solidFill>
            <a:srgbClr val="F7F9FB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5B667A"/>
                </a:solidFill>
                <a:latin typeface="Calibri"/>
              </a:rPr>
              <a:t>9.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Appendix: the bounded AI element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appendix —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Predict the residual (actual − predicted), apply as a correction. Predicting 0 = trusting the agency.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6126480" cy="1905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749040" y="25603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Calibri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03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E99"/>
                </a:solidFill>
                <a:latin typeface="Calibri"/>
              </a:rPr>
              <a:t>vs 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trust the agency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0779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195.2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9077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1868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add global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2186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215.1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186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worse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add mean per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5295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206.7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2958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worse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gradient boosting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84048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166.6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840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−14.7%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514600"/>
            <a:ext cx="4236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Both naive corrections are worse.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Residuals are right-skewed, so adding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the mean overcorrects.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Leakage guard:</a:t>
            </a:r>
            <a:r>
              <a:rPr sz="1350" b="0">
                <a:solidFill>
                  <a:srgbClr val="1A1F2B"/>
                </a:solidFill>
                <a:latin typeface="Calibri"/>
              </a:rPr>
              <a:t> labels from GPS,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features from predictions — different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feeds.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1">
                <a:solidFill>
                  <a:srgbClr val="1A1F2B"/>
                </a:solidFill>
                <a:latin typeface="Calibri"/>
              </a:rPr>
              <a:t>Fallback in code:</a:t>
            </a:r>
            <a:r>
              <a:rPr sz="1350" b="0">
                <a:solidFill>
                  <a:srgbClr val="1A1F2B"/>
                </a:solidFill>
                <a:latin typeface="Calibri"/>
              </a:rPr>
              <a:t> if the model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doesn't beat baseline, serve the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agency ETA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