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[10s  |  BORNA  |  ~21 words @ 126 wpm]</a:t>
            </a:r>
          </a:p>
          <a:p>
            <a:r>
              <a:t>==============================================================</a:t>
            </a:r>
          </a:p>
          <a:p/>
          <a:p>
            <a:r>
              <a:t>We measure how late Bay Area transit actually is. The catch: no agency</a:t>
            </a:r>
          </a:p>
          <a:p>
            <a:r>
              <a:t>publishes that number. We had to derive it.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Do not linger. The hook is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~100 words @ 125 wpm]</a:t>
            </a:r>
          </a:p>
          <a:p>
            <a:r>
              <a:t>==============================================================</a:t>
            </a:r>
          </a:p>
          <a:p/>
          <a:p>
            <a:r>
              <a:t>Agencies publish two live feeds. TripUpdates is predictions -- a bus will</a:t>
            </a:r>
          </a:p>
          <a:p>
            <a:r>
              <a:t>reach stop 22 at 15:07. VehiclePositions is GPS -- bus 4821 is here, now.</a:t>
            </a:r>
          </a:p>
          <a:p/>
          <a:p>
            <a:r>
              <a:t>Notice what is missing: neither feed ever says the bus ARRIVED. Nobody publishes</a:t>
            </a:r>
          </a:p>
          <a:p>
            <a:r>
              <a:t>that. It has to be derived.</a:t>
            </a:r>
          </a:p>
          <a:p/>
          <a:p>
            <a:r>
              <a:t>And here is why that is hard rather than tedious. Delay equals actual minus</a:t>
            </a:r>
          </a:p>
          <a:p>
            <a:r>
              <a:t>scheduled. Scheduled is published and exact. So every bit of error in our derived</a:t>
            </a:r>
          </a:p>
          <a:p>
            <a:r>
              <a:t>actual goes straight into the delay number, and nothing downstream can catch it.</a:t>
            </a:r>
          </a:p>
          <a:p/>
          <a:p>
            <a:r>
              <a:t>Our user is a rider deciding whether to trust the ETA in their app.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Slow on the last sentence of paragraph three -- it justifies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BORNA  |  ~70 words @ 117 wpm]</a:t>
            </a:r>
          </a:p>
          <a:p>
            <a:r>
              <a:t>==============================================================</a:t>
            </a:r>
          </a:p>
          <a:p/>
          <a:p>
            <a:r>
              <a:t>This is the whole talk in one picture, and we will walk it left to right.</a:t>
            </a:r>
          </a:p>
          <a:p/>
          <a:p>
            <a:r>
              <a:t>511 gives us protobuf. A poller writes it to disk. A producer validates it and</a:t>
            </a:r>
          </a:p>
          <a:p>
            <a:r>
              <a:t>publishes to Kafka. A resolver turns GPS into arrivals. An aggregator joins those</a:t>
            </a:r>
          </a:p>
          <a:p>
            <a:r>
              <a:t>against the predictions, and that produces our answer. A model then learns the</a:t>
            </a:r>
          </a:p>
          <a:p>
            <a:r>
              <a:t>correction.</a:t>
            </a:r>
          </a:p>
          <a:p/>
          <a:p>
            <a:r>
              <a:t>Nine stages. I will take the first four, Aatish takes the rest.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Point along the diagram as you speak. Do not read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[40s  |  BORNA  |  ~80 words @ 120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one and two. One consolidated 511 feed covers all 28 Bay Area</a:t>
            </a:r>
          </a:p>
          <a:p>
            <a:r>
              <a:t>operators -- which matters, because our quota is sixty requests an hour, so we can</a:t>
            </a:r>
          </a:p>
          <a:p>
            <a:r>
              <a:t>only afford one poll every two minutes.</a:t>
            </a:r>
          </a:p>
          <a:p/>
          <a:p>
            <a:r>
              <a:t>The poller has one rule: write the raw bytes to disk BEFORE trying to decode</a:t>
            </a:r>
          </a:p>
          <a:p>
            <a:r>
              <a:t>them. A decoding bug is recoverable -- reprocess the file. A poll never taken is</a:t>
            </a:r>
          </a:p>
          <a:p>
            <a:r>
              <a:t>gone forever, because there is no history endpoint.</a:t>
            </a:r>
          </a:p>
          <a:p/>
          <a:p>
            <a:r>
              <a:t>Make the irreversible step the cheap one.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The 'irreversible step' line is the memorable one. Pause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[48s  |  BORNA  |  ~103 words @ 129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three and four. The archive on disk is our system of record.</a:t>
            </a:r>
          </a:p>
          <a:p/>
          <a:p>
            <a:r>
              <a:t>On the right is one real record as it enters Kafka, after validation. Note the</a:t>
            </a:r>
          </a:p>
          <a:p>
            <a:r>
              <a:t>key: service date plus trip ID. The date is there because trip IDs repeat every</a:t>
            </a:r>
          </a:p>
          <a:p>
            <a:r>
              <a:t>single day.</a:t>
            </a:r>
          </a:p>
          <a:p/>
          <a:p>
            <a:r>
              <a:t>And look at arrival_uncertainty -- it is null, not zero. Protobuf lets a field be</a:t>
            </a:r>
          </a:p>
          <a:p>
            <a:r>
              <a:t>genuinely absent, and absent is different from zero. Zero means exactly on time.</a:t>
            </a:r>
          </a:p>
          <a:p>
            <a:r>
              <a:t>Absent means the agency told us nothing.</a:t>
            </a:r>
          </a:p>
          <a:p/>
          <a:p>
            <a:r>
              <a:t>Forty-four percent of records have no delay value. Read the obvious way, we would</a:t>
            </a:r>
          </a:p>
          <a:p>
            <a:r>
              <a:t>have called every one of them perfectly on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This covers the contract AND the 44% finding. Land 'perfectly on time', then hand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[44s  |  AATISH  |  ~94 words @ 128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five, Kafka. Four topics, three partitions each.</a:t>
            </a:r>
          </a:p>
          <a:p/>
          <a:p>
            <a:r>
              <a:t>Two settings worth explaining. Retention is twenty-four hours, deliberately --</a:t>
            </a:r>
          </a:p>
          <a:p>
            <a:r>
              <a:t>Kafka is transport, not storage. The archive Borna described is what we keep.</a:t>
            </a:r>
          </a:p>
          <a:p/>
          <a:p>
            <a:r>
              <a:t>And cleanup policy is delete, never compact. Compaction keeps only the newest</a:t>
            </a:r>
          </a:p>
          <a:p>
            <a:r>
              <a:t>message per key. Our data IS the history -- we detect arrivals by watching a</a:t>
            </a:r>
          </a:p>
          <a:p>
            <a:r>
              <a:t>vehicle change state across consecutive observations, so compaction would throw</a:t>
            </a:r>
          </a:p>
          <a:p>
            <a:r>
              <a:t>away exactly what we read.</a:t>
            </a:r>
          </a:p>
          <a:p/>
          <a:p>
            <a:r>
              <a:t>The key puts every observation of one trip in one partition, in order. That turns</a:t>
            </a:r>
          </a:p>
          <a:p>
            <a:r>
              <a:t>out to be the whole game.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Ends on the key. That sets up the next slide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[50s  |  AATISH  |  ~103 words @ 124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 six, and this is the heart of it.</a:t>
            </a:r>
          </a:p>
          <a:p/>
          <a:p>
            <a:r>
              <a:t>Here is one real vehicle -- a Powell-Mason cable car. Across four consecutive</a:t>
            </a:r>
          </a:p>
          <a:p>
            <a:r>
              <a:t>polls you can watch it approach stop four, report STOPPED_AT stop four, and then</a:t>
            </a:r>
          </a:p>
          <a:p>
            <a:r>
              <a:t>move on.</a:t>
            </a:r>
          </a:p>
          <a:p/>
          <a:p>
            <a:r>
              <a:t>That transition is the arrival. It exists nowhere in the source data; we derived</a:t>
            </a:r>
          </a:p>
          <a:p>
            <a:r>
              <a:t>it.</a:t>
            </a:r>
          </a:p>
          <a:p/>
          <a:p>
            <a:r>
              <a:t>The subtlety: it is the FIRST stopped sighting. A parked vehicle reports that</a:t>
            </a:r>
          </a:p>
          <a:p>
            <a:r>
              <a:t>status on every poll while it waits, so taking the last one would measure</a:t>
            </a:r>
          </a:p>
          <a:p>
            <a:r>
              <a:t>departure -- and nothing would ever tell you. Which means the resolver holds</a:t>
            </a:r>
          </a:p>
          <a:p>
            <a:r>
              <a:t>per-trip state, and that is why the ordering guarantee matters.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This is the rubric's 'one concrete example'. Trace the four lines with your finger.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[43s  |  AATISH  |  ~89 words @ 124 wpm]</a:t>
            </a:r>
          </a:p>
          <a:p>
            <a:r>
              <a:t>==============================================================</a:t>
            </a:r>
          </a:p>
          <a:p/>
          <a:p>
            <a:r>
              <a:t>Stages seven and eight. We join our derived arrivals against what the agency</a:t>
            </a:r>
          </a:p>
          <a:p>
            <a:r>
              <a:t>predicted.</a:t>
            </a:r>
          </a:p>
          <a:p/>
          <a:p>
            <a:r>
              <a:t>For that same cable car: two minutes ahead, Muni predicted 14:53:54. It arrived</a:t>
            </a:r>
          </a:p>
          <a:p>
            <a:r>
              <a:t>at 14:54:31 -- thirty-seven seconds late. That is one data point; the pipeline</a:t>
            </a:r>
          </a:p>
          <a:p>
            <a:r>
              <a:t>produces twenty-five thousand of them.</a:t>
            </a:r>
          </a:p>
          <a:p/>
          <a:p>
            <a:r>
              <a:t>Aggregated, close-in predictions are excellent -- thirteen seconds off. At twenty</a:t>
            </a:r>
          </a:p>
          <a:p>
            <a:r>
              <a:t>minutes out, only twenty-three percent land within a minute, and the bias is</a:t>
            </a:r>
          </a:p>
          <a:p>
            <a:r>
              <a:t>negative throughout, meaning vehicles arrive later than promised.</a:t>
            </a:r>
          </a:p>
          <a:p/>
          <a:p>
            <a:r>
              <a:t>This is credible only because the two halves come from different feeds.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Read ONE row of the table, not five. The independence point is the real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~73 words @ 122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best lesson came from a feature we deleted.</a:t>
            </a:r>
          </a:p>
          <a:p/>
          <a:p>
            <a:r>
              <a:t>Day-of-week improved our test error by ten seconds. We removed it anyway, because</a:t>
            </a:r>
          </a:p>
          <a:p>
            <a:r>
              <a:t>Monday appeared only in our test window -- thirty-one percent of test rows had a</a:t>
            </a:r>
          </a:p>
          <a:p>
            <a:r>
              <a:t>value the model had never seen, so they inherited an adjacent day's correction</a:t>
            </a:r>
          </a:p>
          <a:p>
            <a:r>
              <a:t>through where the bins happened to fall.</a:t>
            </a:r>
          </a:p>
          <a:p/>
          <a:p>
            <a:r>
              <a:t>Every real bug we hit had that shape. None of them crashed. Several produced</a:t>
            </a:r>
          </a:p>
          <a:p>
            <a:r>
              <a:t>better-looking numbers.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Pause after 'we removed it anyway'. Let the oddity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[36s  |  AATISH  |  ~86 words @ 143 wpm]</a:t>
            </a:r>
          </a:p>
          <a:p>
            <a:r>
              <a:t>==============================================================</a:t>
            </a:r>
          </a:p>
          <a:p/>
          <a:p>
            <a:r>
              <a:t>Our main limitation is coverage. We catch about twenty-one percent of stop</a:t>
            </a:r>
          </a:p>
          <a:p>
            <a:r>
              <a:t>events, because vehicles dwell for seconds and we sample every two minutes.</a:t>
            </a:r>
          </a:p>
          <a:p/>
          <a:p>
            <a:r>
              <a:t>And it is not random -- the chance of catching a stop scales with how long the</a:t>
            </a:r>
          </a:p>
          <a:p>
            <a:r>
              <a:t>vehicle sits there, so terminals are over-represented and our arrivals skew late.</a:t>
            </a:r>
          </a:p>
          <a:p>
            <a:r>
              <a:t>So the optimism we measured is an upper bound, not a point estimate.</a:t>
            </a:r>
          </a:p>
          <a:p/>
          <a:p>
            <a:r>
              <a:t>The next step is one email: ask 511 for a higher rate limit. That fixes all three</a:t>
            </a:r>
          </a:p>
          <a:p>
            <a:r>
              <a:t>problems at once.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Being honest about the upper bound is worth marks. Do not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[12s  |  EITHER  |  ~22 words @ 110 wpm]</a:t>
            </a:r>
          </a:p>
          <a:p>
            <a:r>
              <a:t>==============================================================</a:t>
            </a:r>
          </a:p>
          <a:p/>
          <a:p>
            <a:r>
              <a:t>All of that runs from one command, no API key, in about two minutes --</a:t>
            </a:r>
          </a:p>
          <a:p>
            <a:r>
              <a:t>eighty-three tests and six acceptance checks. Questions?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Stop talking. Leave the full minute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[0s  |  APPENDIX  |  ~123 words @ 0 wpm]</a:t>
            </a:r>
          </a:p>
          <a:p>
            <a:r>
              <a:t>==============================================================</a:t>
            </a:r>
          </a:p>
          <a:p/>
          <a:p>
            <a:r>
              <a:t>Not presented -- backup for Q&amp;A on the AI element.</a:t>
            </a:r>
          </a:p>
          <a:p/>
          <a:p>
            <a:r>
              <a:t>We predict the residual: actual arrival minus predicted arrival, applied as a</a:t>
            </a:r>
          </a:p>
          <a:p>
            <a:r>
              <a:t>correction on top of the agency's ETA. Predicting zero is identical to trusting</a:t>
            </a:r>
          </a:p>
          <a:p>
            <a:r>
              <a:t>the agency, so the baseline comparison is exact.</a:t>
            </a:r>
          </a:p>
          <a:p/>
          <a:p>
            <a:r>
              <a:t>The interesting result is that both naive bias corrections are WORSE than doing</a:t>
            </a:r>
          </a:p>
          <a:p>
            <a:r>
              <a:t>nothing. Residuals are right-skewed -- mean plus 213 seconds, median plus 111 --</a:t>
            </a:r>
          </a:p>
          <a:p>
            <a:r>
              <a:t>so adding the mean overcorrects the typical case. The model earns its 14.7% by</a:t>
            </a:r>
          </a:p>
          <a:p>
            <a:r>
              <a:t>learning a horizon, hour and route dependent correction.</a:t>
            </a:r>
          </a:p>
          <a:p/>
          <a:p>
            <a:r>
              <a:t>On leakage: labels come from GPS, features from predictions. Different feeds, so</a:t>
            </a:r>
          </a:p>
          <a:p>
            <a:r>
              <a:t>the label cannot contain the feature. We excluded lead-time because it contains</a:t>
            </a:r>
          </a:p>
          <a:p>
            <a:r>
              <a:t>the target, and split strictly forward in time.</a:t>
            </a:r>
          </a:p>
          <a:p/>
          <a:p>
            <a:r>
              <a:t>--------------------------------------------------------------</a:t>
            </a:r>
          </a:p>
          <a:p>
            <a:r>
              <a:t>DELIVERY: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200" b="1">
                <a:solidFill>
                  <a:srgbClr val="1A1F2B"/>
                </a:solidFill>
                <a:latin typeface="Calibri"/>
              </a:rPr>
              <a:t>Real-Time Transit Reliability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Deriving arrival times that no agency publishes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5B667A"/>
                </a:solidFill>
                <a:latin typeface="Calibri"/>
              </a:rPr>
              <a:t>and grading the predictions riders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82880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Borna Karimi  ·  Aatish Lobo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1A1F2B"/>
                </a:solidFill>
                <a:latin typeface="Calibri"/>
              </a:rPr>
              <a:t>MSDS 682 — Data Stream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8" name="Right Triangle 7"/>
          <p:cNvSpPr/>
          <p:nvPr/>
        </p:nvSpPr>
        <p:spPr>
          <a:xfrm>
            <a:off x="177322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6466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299780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924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4222394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3834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5446979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38419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667156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300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789614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8758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9120733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2173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10345318" y="586587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36758" y="562356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5B667A"/>
                </a:solidFill>
                <a:latin typeface="Calibri"/>
              </a:rPr>
              <a:t>Data provided by 511.org (Metropolitan Transportation Commission)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Nobody publishes when a bus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TripUpdates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predictions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“will reach stop 22 at 15:07”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1920240"/>
            <a:ext cx="5295747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4467" y="2103120"/>
            <a:ext cx="483854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VehiclePositions — </a:t>
            </a:r>
            <a:r>
              <a:rPr sz="1600" b="1">
                <a:solidFill>
                  <a:srgbClr val="1A1F2B"/>
                </a:solidFill>
                <a:latin typeface="Calibri"/>
              </a:rPr>
              <a:t>GPS pings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“bus 4821 is here, now”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1A1F2B"/>
                </a:solidFill>
                <a:latin typeface="Calibri"/>
              </a:rPr>
              <a:t>Neither ever says: “bus 4821 </a:t>
            </a:r>
            <a:r>
              <a:rPr sz="2100" b="1">
                <a:solidFill>
                  <a:srgbClr val="1A1F2B"/>
                </a:solidFill>
                <a:latin typeface="Calibri"/>
              </a:rPr>
              <a:t>arrived</a:t>
            </a:r>
            <a:r>
              <a:rPr sz="2100" b="0">
                <a:solidFill>
                  <a:srgbClr val="1A1F2B"/>
                </a:solidFill>
                <a:latin typeface="Calibri"/>
              </a:rPr>
              <a:t> at stop 22 at 15:09.”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delay = actual − scheduled,  and </a:t>
            </a:r>
            <a:r>
              <a:rPr sz="1800" b="1">
                <a:solidFill>
                  <a:srgbClr val="1A1F2B"/>
                </a:solidFill>
                <a:latin typeface="Calibri"/>
              </a:rPr>
              <a:t>scheduled is exact</a:t>
            </a:r>
            <a:r>
              <a:rPr sz="1800" b="0">
                <a:solidFill>
                  <a:srgbClr val="1A1F2B"/>
                </a:solidFill>
                <a:latin typeface="Calibri"/>
              </a:rPr>
              <a:t> —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so every error in our derivation lands </a:t>
            </a:r>
            <a:r>
              <a:rPr sz="1800" b="1">
                <a:solidFill>
                  <a:srgbClr val="1A1F2B"/>
                </a:solidFill>
                <a:latin typeface="Calibri"/>
              </a:rPr>
              <a:t>straight in the answer</a:t>
            </a:r>
            <a:r>
              <a:rPr sz="1800" b="0">
                <a:solidFill>
                  <a:srgbClr val="1A1F2B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B667A"/>
                </a:solidFill>
                <a:latin typeface="Calibri"/>
              </a:rPr>
              <a:t>User:</a:t>
            </a:r>
            <a:r>
              <a:rPr sz="1500" b="0">
                <a:solidFill>
                  <a:srgbClr val="5B667A"/>
                </a:solidFill>
                <a:latin typeface="Calibri"/>
              </a:rPr>
              <a:t> a rider deciding whether to trust the ETA in their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8" name="Right Triangle 27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5B667A"/>
                </a:solidFill>
                <a:latin typeface="Calibri"/>
              </a:rPr>
              <a:t>We'll walk it left to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1. 511 feed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protobuf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87168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2. poller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archive first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96512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3. data/raw/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system of record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1344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4. producer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validate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90688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28432" y="1965960"/>
            <a:ext cx="1572768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5. Kafka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4 topics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7776" y="2258568"/>
            <a:ext cx="201168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6. resolver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GPS → arrivals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02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7. aggregator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join predictions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88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8F1F7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8. outputs/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the metrics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174736" y="3493008"/>
            <a:ext cx="274320" cy="146304"/>
          </a:xfrm>
          <a:prstGeom prst="rightArrow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32004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2F5F8"/>
          </a:solidFill>
          <a:ln w="1587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1A1F2B"/>
                </a:solidFill>
                <a:latin typeface="Calibri"/>
              </a:rPr>
              <a:t>9. model</a:t>
            </a:r>
          </a:p>
          <a:p>
            <a:pPr algn="ctr"/>
            <a:r>
              <a:rPr sz="1000">
                <a:solidFill>
                  <a:srgbClr val="5B667A"/>
                </a:solidFill>
                <a:latin typeface="Calibri"/>
              </a:rPr>
              <a:t>learn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Borna: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1–4, getting the data in and validated.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1">
                <a:solidFill>
                  <a:srgbClr val="1A1F2B"/>
                </a:solidFill>
                <a:latin typeface="Calibri"/>
              </a:rPr>
              <a:t>Aatish:</a:t>
            </a:r>
            <a:r>
              <a:rPr sz="1700" b="0">
                <a:solidFill>
                  <a:srgbClr val="1A1F2B"/>
                </a:solidFill>
                <a:latin typeface="Calibri"/>
              </a:rPr>
              <a:t> stages 5–9, turning it into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1–2 · The source, and one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511.org</a:t>
            </a:r>
            <a:r>
              <a:rPr sz="1600" b="0">
                <a:solidFill>
                  <a:srgbClr val="1A1F2B"/>
                </a:solidFill>
                <a:latin typeface="Calibri"/>
              </a:rPr>
              <a:t> — one regional feed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28 operators</a:t>
            </a:r>
            <a:r>
              <a:rPr sz="1600" b="0">
                <a:solidFill>
                  <a:srgbClr val="1A1F2B"/>
                </a:solidFill>
                <a:latin typeface="Calibri"/>
              </a:rPr>
              <a:t>, GTFS-Realtime protobuf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60 requests/hour</a:t>
            </a:r>
            <a:r>
              <a:rPr sz="1600" b="0">
                <a:solidFill>
                  <a:srgbClr val="1A1F2B"/>
                </a:solidFill>
                <a:latin typeface="Calibri"/>
              </a:rPr>
              <a:t> → one poll per 120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965960"/>
            <a:ext cx="54251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The quota is not just a limit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it is the </a:t>
            </a:r>
            <a:r>
              <a:rPr sz="1500" b="1">
                <a:solidFill>
                  <a:srgbClr val="1A1F2B"/>
                </a:solidFill>
                <a:latin typeface="Calibri"/>
              </a:rPr>
              <a:t>precision limit</a:t>
            </a:r>
            <a:r>
              <a:rPr sz="1500" b="0">
                <a:solidFill>
                  <a:srgbClr val="1A1F2B"/>
                </a:solidFill>
                <a:latin typeface="Calibri"/>
              </a:rPr>
              <a:t> on every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arrival we derive. So it travels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with every row as `poll_interval_s`.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40"/>
            <a:ext cx="10911535" cy="118872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Write raw bytes to disk BEFORE decoding.</a:t>
            </a:r>
            <a:r>
              <a:rPr sz="1600" b="0">
                <a:solidFill>
                  <a:srgbClr val="1A1F2B"/>
                </a:solidFill>
                <a:latin typeface="Calibri"/>
              </a:rPr>
              <a:t>  A decode bug is recoverable — reprocess the file.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A poll never taken is gone forever. </a:t>
            </a:r>
            <a:r>
              <a:rPr sz="1600" b="1">
                <a:solidFill>
                  <a:srgbClr val="1A1F2B"/>
                </a:solidFill>
                <a:latin typeface="Calibri"/>
              </a:rPr>
              <a:t>Make the irreversible step the cheap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3–4 · Archive, then a validated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Borna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943600" cy="3108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5486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key = "20260806:SF:12086593_M11"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"envelope":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"poll_interval_s": 120,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"ingest_ts": "...",       // when WE got it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"trip": {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"trip_id":      "SF:12086593_M11",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"route_id":     "SF:PM",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  "service_date": "20260806"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},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"stop_sequence":       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"arrival_time_epoch":  1786053234,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  "arrival_uncertainty": </a:t>
            </a:r>
            <a:r>
              <a:rPr sz="1250" b="1">
                <a:solidFill>
                  <a:srgbClr val="B45309"/>
                </a:solidFill>
                <a:latin typeface="Consolas"/>
              </a:rPr>
              <a:t>null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 b="0">
                <a:solidFill>
                  <a:srgbClr val="1A1F2B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6021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Key = service_date : trip_id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trip IDs repeat every day, and this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keeps one trip in one partition,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246120"/>
            <a:ext cx="4602175" cy="178308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429000"/>
            <a:ext cx="414497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null ≠ 0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`0` = exactly on 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absent = no information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44.2%</a:t>
            </a:r>
            <a:r>
              <a:rPr sz="1400" b="0">
                <a:solidFill>
                  <a:srgbClr val="B45309"/>
                </a:solidFill>
                <a:latin typeface="Calibri"/>
              </a:rPr>
              <a:t> of records have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no delay value at 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3. archive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4. producer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6" name="Right Triangle 2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5 · Kafka — and why these settings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topic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parts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874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B6E99"/>
                </a:solidFill>
                <a:latin typeface="Calibri"/>
              </a:rPr>
              <a:t>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21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gtfsrt.trip_updates.v1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221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gtfsrt.vehicle_positions.v1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32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24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437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gtfsrt.dead_letter.v1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437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54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transit.arrival_events.v1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1A1F2B"/>
                </a:solidFill>
                <a:latin typeface="Calibri"/>
              </a:rPr>
              <a:t>7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874520"/>
            <a:ext cx="487649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retention = 24 h, on purpose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Kafka is transport. The archive is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storage.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delete, never compact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Compaction keeps only the newest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message per key — it would discard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state transitions we read.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3 partitions, chosen not defaulted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Count is effectively permanent: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changing it re-routes keys and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breaks ordering retroactively.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29" name="Right Triangle 2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5. Kafka</a:t>
            </a:r>
          </a:p>
        </p:txBody>
      </p:sp>
      <p:sp>
        <p:nvSpPr>
          <p:cNvPr id="31" name="Right Triangle 3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33" name="Right Triangle 3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35" name="Right Triangle 3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37" name="Right Triangle 3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6 · The resolver — one real vehicle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6309360" cy="2148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Powell–Mason cable car, trip SF:12086593_M11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14:52:43   IN_TRANSIT_TO   stop_sequence 4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14:54:31   </a:t>
            </a:r>
            <a:r>
              <a:rPr sz="1350" b="1">
                <a:solidFill>
                  <a:srgbClr val="B45309"/>
                </a:solidFill>
                <a:latin typeface="Consolas"/>
              </a:rPr>
              <a:t>STOPPED_AT      stop_sequence 4     &lt;- ARRIVED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14:56:50   STOPPED_AT      stop_sequence 6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350" b="0">
                <a:solidFill>
                  <a:srgbClr val="1A1F2B"/>
                </a:solidFill>
                <a:latin typeface="Consolas"/>
              </a:rPr>
              <a:t>14:59:55   STOPPED_AT      stop_sequence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7452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That sentence exists </a:t>
            </a:r>
            <a:r>
              <a:rPr sz="1400" b="1">
                <a:solidFill>
                  <a:srgbClr val="1A1F2B"/>
                </a:solidFill>
                <a:latin typeface="Calibri"/>
              </a:rPr>
              <a:t>nowhere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in the source data.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It is the </a:t>
            </a:r>
            <a:r>
              <a:rPr sz="1400" b="1">
                <a:solidFill>
                  <a:srgbClr val="1A1F2B"/>
                </a:solidFill>
                <a:latin typeface="Calibri"/>
              </a:rPr>
              <a:t>first</a:t>
            </a:r>
            <a:r>
              <a:rPr sz="1400" b="0">
                <a:solidFill>
                  <a:srgbClr val="1A1F2B"/>
                </a:solidFill>
                <a:latin typeface="Calibri"/>
              </a:rPr>
              <a:t> stopped sighting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 parked vehicle reports STOPPED_AT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on every poll, so the last one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would measure </a:t>
            </a:r>
            <a:r>
              <a:rPr sz="1400" b="1">
                <a:solidFill>
                  <a:srgbClr val="1A1F2B"/>
                </a:solidFill>
                <a:latin typeface="Calibri"/>
              </a:rPr>
              <a:t>departure</a:t>
            </a:r>
            <a:r>
              <a:rPr sz="140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So the resolver holds per-trip state —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which is why </a:t>
            </a:r>
            <a:r>
              <a:rPr sz="1400" b="1">
                <a:solidFill>
                  <a:srgbClr val="1A1F2B"/>
                </a:solidFill>
                <a:latin typeface="Calibri"/>
              </a:rPr>
              <a:t>ordering</a:t>
            </a:r>
            <a:r>
              <a:rPr sz="1400" b="0">
                <a:solidFill>
                  <a:srgbClr val="1A1F2B"/>
                </a:solidFill>
                <a:latin typeface="Calibri"/>
              </a:rPr>
              <a:t>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51960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5B667A"/>
                </a:solidFill>
                <a:latin typeface="Calibri"/>
              </a:rPr>
              <a:t>Every arrival is stamped with </a:t>
            </a:r>
            <a:r>
              <a:rPr sz="1400" b="1">
                <a:solidFill>
                  <a:srgbClr val="5B667A"/>
                </a:solidFill>
                <a:latin typeface="Calibri"/>
              </a:rPr>
              <a:t>how</a:t>
            </a:r>
            <a:r>
              <a:rPr sz="1400" b="0">
                <a:solidFill>
                  <a:srgbClr val="5B667A"/>
                </a:solidFill>
                <a:latin typeface="Calibri"/>
              </a:rPr>
              <a:t> it was derived: method, confidence, poll_interval_s.  Only 15 of 28 operators support this.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7–8 · Join, and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4572000" cy="1143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1A1F2B"/>
                </a:solidFill>
                <a:latin typeface="Calibri"/>
              </a:rPr>
              <a:t>Our cable car: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>
                <a:solidFill>
                  <a:srgbClr val="1A1F2B"/>
                </a:solidFill>
                <a:latin typeface="Calibri"/>
              </a:rPr>
              <a:t>predicted 14:53:54 · arrived 14:54:31 → 37 s 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67A"/>
                </a:solidFill>
                <a:latin typeface="Calibri"/>
              </a:rPr>
              <a:t>one of </a:t>
            </a:r>
            <a:r>
              <a:rPr sz="1500" b="1">
                <a:solidFill>
                  <a:srgbClr val="5B667A"/>
                </a:solidFill>
                <a:latin typeface="Calibri"/>
              </a:rPr>
              <a:t>25,501</a:t>
            </a:r>
            <a:r>
              <a:rPr sz="1500" b="0">
                <a:solidFill>
                  <a:srgbClr val="5B667A"/>
                </a:solidFill>
                <a:latin typeface="Calibri"/>
              </a:rPr>
              <a:t>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667512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lead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9184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918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med |err|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2918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&lt;60s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3931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0–2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639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−11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3931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13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63931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92.7%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2–5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4,603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9410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−46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9410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59.5%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428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5–10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4,897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428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−66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24281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70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2428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43.3%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544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10–20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8,919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445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−98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4456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102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44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31.1%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46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20+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6,573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8463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B45309"/>
                </a:solidFill>
                <a:latin typeface="Calibri"/>
              </a:rPr>
              <a:t>−142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4846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146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4632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337560"/>
            <a:ext cx="3779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Credible only because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two halves are </a:t>
            </a:r>
            <a:r>
              <a:rPr sz="1350" b="1">
                <a:solidFill>
                  <a:srgbClr val="5B667A"/>
                </a:solidFill>
                <a:latin typeface="Calibri"/>
              </a:rPr>
              <a:t>independent</a:t>
            </a:r>
            <a:r>
              <a:rPr sz="1350" b="0">
                <a:solidFill>
                  <a:srgbClr val="5B667A"/>
                </a:solidFill>
                <a:latin typeface="Calibri"/>
              </a:rPr>
              <a:t>: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predicted ← TripUpdates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actual ← VehiclePositions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Deriving one from the other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5B667A"/>
                </a:solidFill>
                <a:latin typeface="Calibri"/>
              </a:rPr>
              <a:t>measures the agency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5B667A"/>
                </a:solidFill>
                <a:latin typeface="Calibri"/>
              </a:rPr>
              <a:t>against itself.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42" name="Right Triangle 41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44" name="Right Triangle 43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46" name="Right Triangle 45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48" name="Right Triangle 47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50" name="Right Triangle 49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52" name="Right Triangle 51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7. aggregator</a:t>
            </a:r>
          </a:p>
        </p:txBody>
      </p:sp>
      <p:sp>
        <p:nvSpPr>
          <p:cNvPr id="54" name="Right Triangle 53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E8F1F7"/>
          </a:solidFill>
          <a:ln w="19050">
            <a:solidFill>
              <a:srgbClr val="0B6E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Calibri"/>
              </a:rPr>
              <a:t>8. outputs</a:t>
            </a:r>
          </a:p>
        </p:txBody>
      </p:sp>
      <p:sp>
        <p:nvSpPr>
          <p:cNvPr id="56" name="Right Triangle 55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Lesson: the wrong answer looked better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F4E8"/>
          </a:solidFill>
          <a:ln w="9525">
            <a:solidFill>
              <a:srgbClr val="E8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02714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Day-of-week </a:t>
            </a:r>
            <a:r>
              <a:rPr sz="1550" b="1">
                <a:solidFill>
                  <a:srgbClr val="1A1F2B"/>
                </a:solidFill>
                <a:latin typeface="Calibri"/>
              </a:rPr>
              <a:t>improved</a:t>
            </a:r>
            <a:r>
              <a:rPr sz="1550" b="0">
                <a:solidFill>
                  <a:srgbClr val="1A1F2B"/>
                </a:solidFill>
                <a:latin typeface="Calibri"/>
              </a:rPr>
              <a:t> test error by 10 seconds. We deleted it.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50" b="0">
                <a:solidFill>
                  <a:srgbClr val="1A1F2B"/>
                </a:solidFill>
                <a:latin typeface="Calibri"/>
              </a:rPr>
              <a:t>Monday appeared </a:t>
            </a:r>
            <a:r>
              <a:rPr sz="1550" b="1">
                <a:solidFill>
                  <a:srgbClr val="1A1F2B"/>
                </a:solidFill>
                <a:latin typeface="Calibri"/>
              </a:rPr>
              <a:t>only</a:t>
            </a:r>
            <a:r>
              <a:rPr sz="1550" b="0">
                <a:solidFill>
                  <a:srgbClr val="1A1F2B"/>
                </a:solidFill>
                <a:latin typeface="Calibri"/>
              </a:rPr>
              <a:t> in the test window — 31% of test rows carried a value the model had never seen, inheriting another day's correction through bin placement.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B45309"/>
                </a:solidFill>
                <a:latin typeface="Calibri"/>
              </a:rPr>
              <a:t>A number you can't account for is not a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Same shape as every real bug we hit — a mislabelled partition column, a duplicate replay that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doubled n while leaving every average identical. </a:t>
            </a:r>
            <a:r>
              <a:rPr sz="1500" b="1">
                <a:solidFill>
                  <a:srgbClr val="1A1F2B"/>
                </a:solidFill>
                <a:latin typeface="Calibri"/>
              </a:rPr>
              <a:t>None crashed. Several looked better.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1" name="Right Triangle 10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Limitation, and the next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Aatish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Limitation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We capture only </a:t>
            </a:r>
            <a:r>
              <a:rPr sz="1350" b="1">
                <a:solidFill>
                  <a:srgbClr val="1A1F2B"/>
                </a:solidFill>
                <a:latin typeface="Calibri"/>
              </a:rPr>
              <a:t>~21% of stop events</a:t>
            </a:r>
            <a:r>
              <a:rPr sz="1350" b="0">
                <a:solidFill>
                  <a:srgbClr val="1A1F2B"/>
                </a:solidFill>
                <a:latin typeface="Calibri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Vehicles dwell for seconds; we sample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every 120 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it isn't random — capture scales with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dwell, so </a:t>
            </a:r>
            <a:r>
              <a:rPr sz="1350" b="1">
                <a:solidFill>
                  <a:srgbClr val="1A1F2B"/>
                </a:solidFill>
                <a:latin typeface="Calibri"/>
              </a:rPr>
              <a:t>terminals are over-represented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and our arrivals skew late.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So the bias we report is an upper bound.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20"/>
            <a:ext cx="5272887" cy="26517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057400"/>
            <a:ext cx="472424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B6E99"/>
                </a:solidFill>
                <a:latin typeface="Calibri"/>
              </a:rPr>
              <a:t>Next step — realistic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514600"/>
            <a:ext cx="472424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Email 511 for a rate-limit increase.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One email. It attacks all three at once: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more events captured, tighter timestamps,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less selection bias.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Then: GTFS-Static for true on-time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performance, and a geofence resolver for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13 operators where this method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can't fire.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3" name="Right Triangle 12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5" name="Right Triangle 14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9" name="Right Triangle 18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21" name="Right Triangle 20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3" name="Right Triangle 22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5" name="Right Triangle 24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1A1F2B"/>
                </a:solidFill>
                <a:latin typeface="Calibri"/>
              </a:rPr>
              <a:t>One command, no API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5120640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2200" b="0">
                <a:solidFill>
                  <a:srgbClr val="1A1F2B"/>
                </a:solidFill>
                <a:latin typeface="Consolas"/>
              </a:rPr>
              <a:t>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697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Kafka → replay → arrivals → metrics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>
                <a:solidFill>
                  <a:srgbClr val="5B667A"/>
                </a:solidFill>
                <a:latin typeface="Calibri"/>
              </a:rPr>
              <a:t>→ 6 acceptance checks, in </a:t>
            </a:r>
            <a:r>
              <a:rPr sz="1600" b="1">
                <a:solidFill>
                  <a:srgbClr val="5B667A"/>
                </a:solidFill>
                <a:latin typeface="Calibri"/>
              </a:rPr>
              <a:t>~2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83 tests  ·  6/6 acceptance checks  ·  1.67 M records replayed, 0 dead-lettered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1A1F2B"/>
                </a:solidFill>
                <a:latin typeface="Calibri"/>
              </a:rPr>
              <a:t>Verified from a clean extract of the submitted 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>
                <a:solidFill>
                  <a:srgbClr val="0B6E99"/>
                </a:solidFill>
                <a:latin typeface="Calibri"/>
              </a:rPr>
              <a:t>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1. 511 feed</a:t>
            </a:r>
          </a:p>
        </p:txBody>
      </p:sp>
      <p:sp>
        <p:nvSpPr>
          <p:cNvPr id="10" name="Right Triangle 9"/>
          <p:cNvSpPr/>
          <p:nvPr/>
        </p:nvSpPr>
        <p:spPr>
          <a:xfrm>
            <a:off x="177322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6466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2. poller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99780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8924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3. archive</a:t>
            </a:r>
          </a:p>
        </p:txBody>
      </p:sp>
      <p:sp>
        <p:nvSpPr>
          <p:cNvPr id="14" name="Right Triangle 13"/>
          <p:cNvSpPr/>
          <p:nvPr/>
        </p:nvSpPr>
        <p:spPr>
          <a:xfrm>
            <a:off x="4222394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3834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4. producer</a:t>
            </a:r>
          </a:p>
        </p:txBody>
      </p:sp>
      <p:sp>
        <p:nvSpPr>
          <p:cNvPr id="16" name="Right Triangle 15"/>
          <p:cNvSpPr/>
          <p:nvPr/>
        </p:nvSpPr>
        <p:spPr>
          <a:xfrm>
            <a:off x="5446979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38419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5. Kafka</a:t>
            </a:r>
          </a:p>
        </p:txBody>
      </p:sp>
      <p:sp>
        <p:nvSpPr>
          <p:cNvPr id="18" name="Right Triangle 17"/>
          <p:cNvSpPr/>
          <p:nvPr/>
        </p:nvSpPr>
        <p:spPr>
          <a:xfrm>
            <a:off x="667156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300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6. resolver</a:t>
            </a:r>
          </a:p>
        </p:txBody>
      </p:sp>
      <p:sp>
        <p:nvSpPr>
          <p:cNvPr id="20" name="Right Triangle 19"/>
          <p:cNvSpPr/>
          <p:nvPr/>
        </p:nvSpPr>
        <p:spPr>
          <a:xfrm>
            <a:off x="789614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8758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7. aggregator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9120733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12173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8. outputs</a:t>
            </a:r>
          </a:p>
        </p:txBody>
      </p:sp>
      <p:sp>
        <p:nvSpPr>
          <p:cNvPr id="24" name="Right Triangle 23"/>
          <p:cNvSpPr/>
          <p:nvPr/>
        </p:nvSpPr>
        <p:spPr>
          <a:xfrm>
            <a:off x="10345318" y="6185916"/>
            <a:ext cx="73152" cy="82296"/>
          </a:xfrm>
          <a:prstGeom prst="rtTriangle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36758" y="5943600"/>
            <a:ext cx="1114856" cy="566928"/>
          </a:xfrm>
          <a:prstGeom prst="roundRect">
            <a:avLst>
              <a:gd name="adj" fmla="val 18000"/>
            </a:avLst>
          </a:prstGeom>
          <a:solidFill>
            <a:srgbClr val="F7F9FB"/>
          </a:solidFill>
          <a:ln w="9525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5B667A"/>
                </a:solidFill>
                <a:latin typeface="Calibri"/>
              </a:rPr>
              <a:t>9.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Calibri"/>
              </a:rPr>
              <a:t>Appendix: the bounded AI element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463040" cy="3810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7055" y="457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5B667A"/>
                </a:solidFill>
                <a:latin typeface="Calibri"/>
              </a:rPr>
              <a:t>appendix —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Predict the residual (actual − predicted), apply as a correction. Predicting 0 = trusting the agency.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6126480" cy="19050"/>
          </a:xfrm>
          <a:prstGeom prst="rect">
            <a:avLst/>
          </a:prstGeom>
          <a:solidFill>
            <a:srgbClr val="0B6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749040" y="25603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56032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0B6E99"/>
                </a:solidFill>
                <a:latin typeface="Calibri"/>
              </a:rPr>
              <a:t>vs 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077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trust the agency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077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195.2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077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8688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global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186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215.1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21868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9584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add mean per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5295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206.7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5295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worse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gradient boosting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A1F2B"/>
                </a:solidFill>
                <a:latin typeface="Calibri"/>
              </a:rPr>
              <a:t>166.6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4048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−14.7%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514600"/>
            <a:ext cx="4236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Both naive corrections are worse.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Residuals are right-skewed, so adding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the mean overcorrects.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Leakage guard:</a:t>
            </a:r>
            <a:r>
              <a:rPr sz="1350" b="0">
                <a:solidFill>
                  <a:srgbClr val="1A1F2B"/>
                </a:solidFill>
                <a:latin typeface="Calibri"/>
              </a:rPr>
              <a:t> labels from GPS,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features from predictions — different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feeds.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1">
                <a:solidFill>
                  <a:srgbClr val="1A1F2B"/>
                </a:solidFill>
                <a:latin typeface="Calibri"/>
              </a:rPr>
              <a:t>Fallback in code:</a:t>
            </a:r>
            <a:r>
              <a:rPr sz="1350" b="0">
                <a:solidFill>
                  <a:srgbClr val="1A1F2B"/>
                </a:solidFill>
                <a:latin typeface="Calibri"/>
              </a:rPr>
              <a:t> if the model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doesn't beat baseline, serve the</a:t>
            </a:r>
          </a:p>
          <a:p>
            <a:pPr algn="l">
              <a:lnSpc>
                <a:spcPct val="132000"/>
              </a:lnSpc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Calibri"/>
              </a:rPr>
              <a:t>agency ETA unchanged.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