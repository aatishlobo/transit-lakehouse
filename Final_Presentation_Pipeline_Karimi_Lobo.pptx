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[10s  |  BORNA  |  ~27 words @ 162 wpm]</a:t>
            </a:r>
          </a:p>
          <a:p>
            <a:r>
              <a:t>==============================================================</a:t>
            </a:r>
          </a:p>
          <a:p/>
          <a:p>
            <a:r>
              <a:t>We measure how late Bay Area transit actually is. The catch that shaped this</a:t>
            </a:r>
          </a:p>
          <a:p>
            <a:r>
              <a:t>whole project is that no agency publishes that number, so we derive it.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Don't linger — the hook is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[48s  |  BORNA  |  ~120 words @ 150 wpm]</a:t>
            </a:r>
          </a:p>
          <a:p>
            <a:r>
              <a:t>==============================================================</a:t>
            </a:r>
          </a:p>
          <a:p/>
          <a:p>
            <a:r>
              <a:t>Transit agencies publish two live feeds. TripUpdates gives you predictions: a bus will</a:t>
            </a:r>
          </a:p>
          <a:p>
            <a:r>
              <a:t>reach stop 22 at 15:07. VehiclePositions gives you GPS: bus 4821 is at this</a:t>
            </a:r>
          </a:p>
          <a:p>
            <a:r>
              <a:t>coordinate right now. But notice what neither of them ever says, which is that</a:t>
            </a:r>
          </a:p>
          <a:p>
            <a:r>
              <a:t>the bus actually arrived. That fact is not published by anyone, so it has to be</a:t>
            </a:r>
          </a:p>
          <a:p>
            <a:r>
              <a:t>derived from indirect evidence. And that is what makes this hard rather than</a:t>
            </a:r>
          </a:p>
          <a:p>
            <a:r>
              <a:t>tedious, because delay is actual minus scheduled, the scheduled time is published</a:t>
            </a:r>
          </a:p>
          <a:p>
            <a:r>
              <a:t>and exact, so every bit of error in our derived actual goes straight into the</a:t>
            </a:r>
          </a:p>
          <a:p>
            <a:r>
              <a:t>delay figure with nothing downstream able to catch it. Our user is a rider</a:t>
            </a:r>
          </a:p>
          <a:p>
            <a:r>
              <a:t>deciding whether to trust the estimate in their app.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Slow down from 'And that is what makes this hard' — it justifies everything after.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[36s  |  BORNA  |  ~88 words @ 147 wpm]</a:t>
            </a:r>
          </a:p>
          <a:p>
            <a:r>
              <a:t>==============================================================</a:t>
            </a:r>
          </a:p>
          <a:p/>
          <a:p>
            <a:r>
              <a:t>This is the whole talk in one picture, and we are going to walk it left to</a:t>
            </a:r>
          </a:p>
          <a:p>
            <a:r>
              <a:t>right. 511 gives us protobuf over HTTP. A poller writes those bytes straight to</a:t>
            </a:r>
          </a:p>
          <a:p>
            <a:r>
              <a:t>disk. A producer then decodes them, validates every record, and publishes to</a:t>
            </a:r>
          </a:p>
          <a:p>
            <a:r>
              <a:t>Kafka. A resolver turns GPS observations into arrivals, an aggregator joins those</a:t>
            </a:r>
          </a:p>
          <a:p>
            <a:r>
              <a:t>arrivals back against the original predictions, and that produces our answer.</a:t>
            </a:r>
          </a:p>
          <a:p>
            <a:r>
              <a:t>Finally a model learns the correction. Nine stages in total, and I will take the</a:t>
            </a:r>
          </a:p>
          <a:p>
            <a:r>
              <a:t>first four while Aatish takes the rest.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Point along the diagram as you go. Don't read every box aloud.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[40s  |  BORNA  |  ~98 words @ 147 wpm]</a:t>
            </a:r>
          </a:p>
          <a:p>
            <a:r>
              <a:t>==============================================================</a:t>
            </a:r>
          </a:p>
          <a:p/>
          <a:p>
            <a:r>
              <a:t>Stages one and two. Our source is a single consolidated 511 feed covering all</a:t>
            </a:r>
          </a:p>
          <a:p>
            <a:r>
              <a:t>twenty-eight Bay Area operators in one request, and that matters because our</a:t>
            </a:r>
          </a:p>
          <a:p>
            <a:r>
              <a:t>quota is sixty requests an hour, which means one poll every two minutes. The</a:t>
            </a:r>
          </a:p>
          <a:p>
            <a:r>
              <a:t>poller then has one rule everything depends on: write the raw bytes to disk</a:t>
            </a:r>
          </a:p>
          <a:p>
            <a:r>
              <a:t>before attempting to decode them. A decoding bug is recoverable, because the file is still there</a:t>
            </a:r>
          </a:p>
          <a:p>
            <a:r>
              <a:t>and we can reprocess it. A poll we never took is gone forever, because there is</a:t>
            </a:r>
          </a:p>
          <a:p>
            <a:r>
              <a:t>no history endpoint. So we make the irreversible step the cheap one.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Pause after the last sentence — it is the line people remember.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[48s  |  BORNA  |  ~122 words @ 152 wpm]</a:t>
            </a:r>
          </a:p>
          <a:p>
            <a:r>
              <a:t>==============================================================</a:t>
            </a:r>
          </a:p>
          <a:p/>
          <a:p>
            <a:r>
              <a:t>Stages three and four. The archive on disk is our system of record, and</a:t>
            </a:r>
          </a:p>
          <a:p>
            <a:r>
              <a:t>everything downstream reads from it. On the left is one real record as it enters</a:t>
            </a:r>
          </a:p>
          <a:p>
            <a:r>
              <a:t>Kafka, after validation. The key is service date plus trip ID, and the date is in</a:t>
            </a:r>
          </a:p>
          <a:p>
            <a:r>
              <a:t>there because trip IDs repeat every single day. Now look at arrival uncertainty,</a:t>
            </a:r>
          </a:p>
          <a:p>
            <a:r>
              <a:t>because it is null rather than zero. Protobuf lets a field be genuinely absent, and</a:t>
            </a:r>
          </a:p>
          <a:p>
            <a:r>
              <a:t>absent means something quite different from zero. Zero means the vehicle is</a:t>
            </a:r>
          </a:p>
          <a:p>
            <a:r>
              <a:t>exactly on time. Absent means the agency told us nothing at all. Forty-four</a:t>
            </a:r>
          </a:p>
          <a:p>
            <a:r>
              <a:t>percent of records carry no delay value, and read the obvious way we would have</a:t>
            </a:r>
          </a:p>
          <a:p>
            <a:r>
              <a:t>called every single one of them perfectly on time.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Land 'perfectly on time', pause, then hand over to Aatish.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[44s  |  AATISH  |  ~123 words @ 168 wpm]</a:t>
            </a:r>
          </a:p>
          <a:p>
            <a:r>
              <a:t>==============================================================</a:t>
            </a:r>
          </a:p>
          <a:p/>
          <a:p>
            <a:r>
              <a:t>Stage five is Kafka, and we run four topics. Two of them carry the raw feeds,</a:t>
            </a:r>
          </a:p>
          <a:p>
            <a:r>
              <a:t>predictions and vehicle positions. A third is a dead letter topic for records</a:t>
            </a:r>
          </a:p>
          <a:p>
            <a:r>
              <a:t>that fail validation, so one malformed row degrades the run rather than stopping</a:t>
            </a:r>
          </a:p>
          <a:p>
            <a:r>
              <a:t>it. And the fourth carries the arrivals we derive, so anything downstream can</a:t>
            </a:r>
          </a:p>
          <a:p>
            <a:r>
              <a:t>consume them without touching our code.</a:t>
            </a:r>
          </a:p>
          <a:p/>
          <a:p>
            <a:r>
              <a:t>The three data topics get three partitions each, while the dead letter gets one,</a:t>
            </a:r>
          </a:p>
          <a:p>
            <a:r>
              <a:t>because ordering between unrelated broken records is meaningless. We chose three</a:t>
            </a:r>
          </a:p>
          <a:p>
            <a:r>
              <a:t>deliberately rather than accepting a default, because partition count is</a:t>
            </a:r>
          </a:p>
          <a:p>
            <a:r>
              <a:t>effectively permanent: Kafka routes messages by hashing the key against it, so</a:t>
            </a:r>
          </a:p>
          <a:p>
            <a:r>
              <a:t>adding a partition later re-routes keys and breaks per-trip ordering</a:t>
            </a:r>
          </a:p>
          <a:p>
            <a:r>
              <a:t>retroactively, for data already written.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Name what each topic is FOR. The partition point is the design choice being scored.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[50s  |  AATISH  |  ~125 words @ 150 wpm]</a:t>
            </a:r>
          </a:p>
          <a:p>
            <a:r>
              <a:t>==============================================================</a:t>
            </a:r>
          </a:p>
          <a:p/>
          <a:p>
            <a:r>
              <a:t>Stage six, and this is the heart of the project. Here is one real vehicle, a</a:t>
            </a:r>
          </a:p>
          <a:p>
            <a:r>
              <a:t>Powell-Mason cable car, across four consecutive polls. The status field comes</a:t>
            </a:r>
          </a:p>
          <a:p>
            <a:r>
              <a:t>straight from the feed, so when Muni's own equipment reports STOPPED_AT at stop</a:t>
            </a:r>
          </a:p>
          <a:p>
            <a:r>
              <a:t>four, we are reading that rather than inferring it. What we derive is the</a:t>
            </a:r>
          </a:p>
          <a:p>
            <a:r>
              <a:t>arrival: the moment that status first appears for that stop. We take the first</a:t>
            </a:r>
          </a:p>
          <a:p>
            <a:r>
              <a:t>sighting rather than the last, because a parked vehicle keeps reporting stopped</a:t>
            </a:r>
          </a:p>
          <a:p>
            <a:r>
              <a:t>on every poll, so the last one would measure departure. That derived sentence,</a:t>
            </a:r>
          </a:p>
          <a:p>
            <a:r>
              <a:t>this trip arrived at stop four at 14:54:31, exists nowhere in the source data,</a:t>
            </a:r>
          </a:p>
          <a:p>
            <a:r>
              <a:t>and producing it requires the resolver to hold per-trip state, which is exactly</a:t>
            </a:r>
          </a:p>
          <a:p>
            <a:r>
              <a:t>why the ordering guarantee matters.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The read-vs-derived distinction is the point. First-vs-last is now one sentence.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[43s  |  AATISH  |  ~104 words @ 145 wpm]</a:t>
            </a:r>
          </a:p>
          <a:p>
            <a:r>
              <a:t>==============================================================</a:t>
            </a:r>
          </a:p>
          <a:p/>
          <a:p>
            <a:r>
              <a:t>Stages seven and eight. Now we join our derived arrivals against what the</a:t>
            </a:r>
          </a:p>
          <a:p>
            <a:r>
              <a:t>agency actually predicted. For that same cable car, two minutes ahead of time</a:t>
            </a:r>
          </a:p>
          <a:p>
            <a:r>
              <a:t>Muni predicted 14:53:54, and it arrived at 14:54:31, so thirty-seven seconds</a:t>
            </a:r>
          </a:p>
          <a:p>
            <a:r>
              <a:t>later than promised. That is one data point, and the pipeline produces</a:t>
            </a:r>
          </a:p>
          <a:p>
            <a:r>
              <a:t>twenty-five thousand of them. Aggregated, the close-in predictions are genuinely</a:t>
            </a:r>
          </a:p>
          <a:p>
            <a:r>
              <a:t>excellent, around thirteen seconds off. But at twenty minutes out only</a:t>
            </a:r>
          </a:p>
          <a:p>
            <a:r>
              <a:t>twenty-three percent land within a minute, and the bias is negative at every</a:t>
            </a:r>
          </a:p>
          <a:p>
            <a:r>
              <a:t>horizon, meaning vehicles consistently arrive later than promised. This is only</a:t>
            </a:r>
          </a:p>
          <a:p>
            <a:r>
              <a:t>credible because the two halves come from completely different feeds.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Read one row of the table aloud, not five. The independence point is the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[36s  |  AATISH  |  ~92 words @ 153 wpm]</a:t>
            </a:r>
          </a:p>
          <a:p>
            <a:r>
              <a:t>==============================================================</a:t>
            </a:r>
          </a:p>
          <a:p/>
          <a:p>
            <a:r>
              <a:t>Our best lesson came from a feature we deleted. Day of week improved our test</a:t>
            </a:r>
          </a:p>
          <a:p>
            <a:r>
              <a:t>error by ten seconds, and we removed it anyway. The reason is that Monday</a:t>
            </a:r>
          </a:p>
          <a:p>
            <a:r>
              <a:t>appeared only in our test window, so thirty-one percent of test rows carried a</a:t>
            </a:r>
          </a:p>
          <a:p>
            <a:r>
              <a:t>value the model had never seen in training, so they quietly inherited an adjacent</a:t>
            </a:r>
          </a:p>
          <a:p>
            <a:r>
              <a:t>day's correction through wherever the bin boundaries fell. The gain was an</a:t>
            </a:r>
          </a:p>
          <a:p>
            <a:r>
              <a:t>artifact, not learned structure. Every real bug we hit had that shape: none</a:t>
            </a:r>
          </a:p>
          <a:p>
            <a:r>
              <a:t>crashed, and several produced better-looking numbers than the correct version.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Pause after 'we removed it anyway' and let the oddity register.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[38s  |  AATISH  |  ~88 words @ 139 wpm]</a:t>
            </a:r>
          </a:p>
          <a:p>
            <a:r>
              <a:t>==============================================================</a:t>
            </a:r>
          </a:p>
          <a:p/>
          <a:p>
            <a:r>
              <a:t>Our main limitation is coverage, because we catch only about twenty-one</a:t>
            </a:r>
          </a:p>
          <a:p>
            <a:r>
              <a:t>percent of stop events, because vehicles dwell for seconds while we sample every</a:t>
            </a:r>
          </a:p>
          <a:p>
            <a:r>
              <a:t>two minutes. And it is not random, since the chance of catching a stop scales</a:t>
            </a:r>
          </a:p>
          <a:p>
            <a:r>
              <a:t>with dwell time, so terminals are over-represented and our arrivals skew late.</a:t>
            </a:r>
          </a:p>
          <a:p>
            <a:r>
              <a:t>That means the optimism we measured is an upper bound, not a point estimate. So</a:t>
            </a:r>
          </a:p>
          <a:p>
            <a:r>
              <a:t>our next step is deliberately small: one email to 511 requesting a higher rate</a:t>
            </a:r>
          </a:p>
          <a:p>
            <a:r>
              <a:t>limit, which attacks all three problems at once.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Being honest about the upper bound is worth marks. Don't soften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[12s  |  EITHER  |  ~29 words @ 145 wpm]</a:t>
            </a:r>
          </a:p>
          <a:p>
            <a:r>
              <a:t>==============================================================</a:t>
            </a:r>
          </a:p>
          <a:p/>
          <a:p>
            <a:r>
              <a:t>All of that runs from a single command, with no API key, in about two minutes,</a:t>
            </a:r>
          </a:p>
          <a:p>
            <a:r>
              <a:t>covering eighty-three tests and six acceptance checks. We are happy to take</a:t>
            </a:r>
          </a:p>
          <a:p>
            <a:r>
              <a:t>questions.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Then stop talking. Leave the full minute for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[0s  |  APPENDIX  |  ~177 words @ 0 wpm]</a:t>
            </a:r>
          </a:p>
          <a:p>
            <a:r>
              <a:t>==============================================================</a:t>
            </a:r>
          </a:p>
          <a:p/>
          <a:p>
            <a:r>
              <a:t>Not presented — this is backup in case we are asked about the AI element.</a:t>
            </a:r>
          </a:p>
          <a:p/>
          <a:p>
            <a:r>
              <a:t>We predict the residual, which is the actual arrival minus the predicted arrival,</a:t>
            </a:r>
          </a:p>
          <a:p>
            <a:r>
              <a:t>and we apply it as a correction on top of the agency's own estimate. Predicting</a:t>
            </a:r>
          </a:p>
          <a:p>
            <a:r>
              <a:t>zero is identical to trusting the agency, so the baseline comparison is exact</a:t>
            </a:r>
          </a:p>
          <a:p>
            <a:r>
              <a:t>rather than approximate. The interesting result is that both naive bias</a:t>
            </a:r>
          </a:p>
          <a:p>
            <a:r>
              <a:t>corrections perform worse than doing nothing at all, because residuals are</a:t>
            </a:r>
          </a:p>
          <a:p>
            <a:r>
              <a:t>heavily right-skewed, with a mean of plus 213 seconds against a median of plus</a:t>
            </a:r>
          </a:p>
          <a:p>
            <a:r>
              <a:t>111, so adding the mean overcorrects the typical case. The model earns its</a:t>
            </a:r>
          </a:p>
          <a:p>
            <a:r>
              <a:t>fourteen point seven percent improvement by learning a correction that depends on</a:t>
            </a:r>
          </a:p>
          <a:p>
            <a:r>
              <a:t>horizon, hour and route rather than applying a constant.</a:t>
            </a:r>
          </a:p>
          <a:p/>
          <a:p>
            <a:r>
              <a:t>On leakage: our labels come from GPS positions and our features come from</a:t>
            </a:r>
          </a:p>
          <a:p>
            <a:r>
              <a:t>predictions, so they are different feeds and the label cannot contain the</a:t>
            </a:r>
          </a:p>
          <a:p>
            <a:r>
              <a:t>feature. We also excluded lead time as a feature because it contains the target,</a:t>
            </a:r>
          </a:p>
          <a:p>
            <a:r>
              <a:t>and we split the data strictly forward in time rather than randomly.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Only if asked.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4200" b="1">
                <a:solidFill>
                  <a:srgbClr val="1A1F2B"/>
                </a:solidFill>
                <a:latin typeface="Calibri"/>
              </a:rPr>
              <a:t>Real-Time Transit Reliability Lakehouse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260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0">
                <a:solidFill>
                  <a:srgbClr val="5B667A"/>
                </a:solidFill>
                <a:latin typeface="Calibri"/>
              </a:rPr>
              <a:t>Deriving arrival times that no agency publishes —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0">
                <a:solidFill>
                  <a:srgbClr val="5B667A"/>
                </a:solidFill>
                <a:latin typeface="Calibri"/>
              </a:rPr>
              <a:t>and grading the predictions riders actually see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931920"/>
            <a:ext cx="182880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29768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700" b="0">
                <a:solidFill>
                  <a:srgbClr val="1A1F2B"/>
                </a:solidFill>
                <a:latin typeface="Calibri"/>
              </a:rPr>
              <a:t>Borna Karimi  ·  Aatish Lobo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700" b="0">
                <a:solidFill>
                  <a:srgbClr val="1A1F2B"/>
                </a:solidFill>
                <a:latin typeface="Calibri"/>
              </a:rPr>
              <a:t>MSDS 682 — Data Stream Processing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62356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1. 511 feed</a:t>
            </a:r>
          </a:p>
        </p:txBody>
      </p:sp>
      <p:sp>
        <p:nvSpPr>
          <p:cNvPr id="8" name="Right Triangle 7"/>
          <p:cNvSpPr/>
          <p:nvPr/>
        </p:nvSpPr>
        <p:spPr>
          <a:xfrm>
            <a:off x="1773224" y="586587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864664" y="562356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2. poller</a:t>
            </a:r>
          </a:p>
        </p:txBody>
      </p:sp>
      <p:sp>
        <p:nvSpPr>
          <p:cNvPr id="10" name="Right Triangle 9"/>
          <p:cNvSpPr/>
          <p:nvPr/>
        </p:nvSpPr>
        <p:spPr>
          <a:xfrm>
            <a:off x="2997809" y="586587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089249" y="562356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3. archive</a:t>
            </a:r>
          </a:p>
        </p:txBody>
      </p:sp>
      <p:sp>
        <p:nvSpPr>
          <p:cNvPr id="12" name="Right Triangle 11"/>
          <p:cNvSpPr/>
          <p:nvPr/>
        </p:nvSpPr>
        <p:spPr>
          <a:xfrm>
            <a:off x="4222394" y="586587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13834" y="562356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4. producer</a:t>
            </a:r>
          </a:p>
        </p:txBody>
      </p:sp>
      <p:sp>
        <p:nvSpPr>
          <p:cNvPr id="14" name="Right Triangle 13"/>
          <p:cNvSpPr/>
          <p:nvPr/>
        </p:nvSpPr>
        <p:spPr>
          <a:xfrm>
            <a:off x="5446979" y="586587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538419" y="562356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5. Kafka</a:t>
            </a:r>
          </a:p>
        </p:txBody>
      </p:sp>
      <p:sp>
        <p:nvSpPr>
          <p:cNvPr id="16" name="Right Triangle 15"/>
          <p:cNvSpPr/>
          <p:nvPr/>
        </p:nvSpPr>
        <p:spPr>
          <a:xfrm>
            <a:off x="6671563" y="586587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763003" y="562356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6. resolver</a:t>
            </a:r>
          </a:p>
        </p:txBody>
      </p:sp>
      <p:sp>
        <p:nvSpPr>
          <p:cNvPr id="18" name="Right Triangle 17"/>
          <p:cNvSpPr/>
          <p:nvPr/>
        </p:nvSpPr>
        <p:spPr>
          <a:xfrm>
            <a:off x="7896148" y="586587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987588" y="562356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7. aggregator</a:t>
            </a:r>
          </a:p>
        </p:txBody>
      </p:sp>
      <p:sp>
        <p:nvSpPr>
          <p:cNvPr id="20" name="Right Triangle 19"/>
          <p:cNvSpPr/>
          <p:nvPr/>
        </p:nvSpPr>
        <p:spPr>
          <a:xfrm>
            <a:off x="9120733" y="586587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12173" y="562356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8. outputs</a:t>
            </a:r>
          </a:p>
        </p:txBody>
      </p:sp>
      <p:sp>
        <p:nvSpPr>
          <p:cNvPr id="22" name="Right Triangle 21"/>
          <p:cNvSpPr/>
          <p:nvPr/>
        </p:nvSpPr>
        <p:spPr>
          <a:xfrm>
            <a:off x="10345318" y="586587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36758" y="562356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9. model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5B667A"/>
                </a:solidFill>
                <a:latin typeface="Calibri"/>
              </a:rPr>
              <a:t>Data provided by 511.org (Metropolitan Transportation Commission)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Calibri"/>
              </a:rPr>
              <a:t>Nobody publishes when a bus arrives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Calibri"/>
              </a:rPr>
              <a:t>Borna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95747" cy="123444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03120"/>
            <a:ext cx="4838547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A1F2B"/>
                </a:solidFill>
                <a:latin typeface="Calibri"/>
              </a:rPr>
              <a:t>TripUpdates — </a:t>
            </a:r>
            <a:r>
              <a:rPr sz="1600" b="1">
                <a:solidFill>
                  <a:srgbClr val="1A1F2B"/>
                </a:solidFill>
                <a:latin typeface="Calibri"/>
              </a:rPr>
              <a:t>predictions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A1F2B"/>
                </a:solidFill>
                <a:latin typeface="Calibri"/>
              </a:rPr>
              <a:t>“will reach stop 22 at 15:07”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5867" y="1920240"/>
            <a:ext cx="5295747" cy="123444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84467" y="2103120"/>
            <a:ext cx="4838547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A1F2B"/>
                </a:solidFill>
                <a:latin typeface="Calibri"/>
              </a:rPr>
              <a:t>VehiclePositions — </a:t>
            </a:r>
            <a:r>
              <a:rPr sz="1600" b="1">
                <a:solidFill>
                  <a:srgbClr val="1A1F2B"/>
                </a:solidFill>
                <a:latin typeface="Calibri"/>
              </a:rPr>
              <a:t>GPS pings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A1F2B"/>
                </a:solidFill>
                <a:latin typeface="Calibri"/>
              </a:rPr>
              <a:t>“bus 4821 is here, now”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8328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0">
                <a:solidFill>
                  <a:srgbClr val="1A1F2B"/>
                </a:solidFill>
                <a:latin typeface="Calibri"/>
              </a:rPr>
              <a:t>Neither ever says: “bus 4821 </a:t>
            </a:r>
            <a:r>
              <a:rPr sz="2100" b="1">
                <a:solidFill>
                  <a:srgbClr val="1A1F2B"/>
                </a:solidFill>
                <a:latin typeface="Calibri"/>
              </a:rPr>
              <a:t>arrived</a:t>
            </a:r>
            <a:r>
              <a:rPr sz="2100" b="0">
                <a:solidFill>
                  <a:srgbClr val="1A1F2B"/>
                </a:solidFill>
                <a:latin typeface="Calibri"/>
              </a:rPr>
              <a:t> at stop 22 at 15:09.”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77640"/>
            <a:ext cx="1091153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800" b="0">
                <a:solidFill>
                  <a:srgbClr val="1A1F2B"/>
                </a:solidFill>
                <a:latin typeface="Calibri"/>
              </a:rPr>
              <a:t>delay = actual − scheduled,  and </a:t>
            </a:r>
            <a:r>
              <a:rPr sz="1800" b="1">
                <a:solidFill>
                  <a:srgbClr val="1A1F2B"/>
                </a:solidFill>
                <a:latin typeface="Calibri"/>
              </a:rPr>
              <a:t>scheduled is exact</a:t>
            </a:r>
            <a:r>
              <a:rPr sz="1800" b="0">
                <a:solidFill>
                  <a:srgbClr val="1A1F2B"/>
                </a:solidFill>
                <a:latin typeface="Calibri"/>
              </a:rPr>
              <a:t> —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800" b="0">
                <a:solidFill>
                  <a:srgbClr val="1A1F2B"/>
                </a:solidFill>
                <a:latin typeface="Calibri"/>
              </a:rPr>
              <a:t>so every error in our derivation lands </a:t>
            </a:r>
            <a:r>
              <a:rPr sz="1800" b="1">
                <a:solidFill>
                  <a:srgbClr val="1A1F2B"/>
                </a:solidFill>
                <a:latin typeface="Calibri"/>
              </a:rPr>
              <a:t>straight in the answer</a:t>
            </a:r>
            <a:r>
              <a:rPr sz="1800" b="0">
                <a:solidFill>
                  <a:srgbClr val="1A1F2B"/>
                </a:solidFill>
                <a:latin typeface="Calibri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93776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5B667A"/>
                </a:solidFill>
                <a:latin typeface="Calibri"/>
              </a:rPr>
              <a:t>User:</a:t>
            </a:r>
            <a:r>
              <a:rPr sz="1500" b="0">
                <a:solidFill>
                  <a:srgbClr val="5B667A"/>
                </a:solidFill>
                <a:latin typeface="Calibri"/>
              </a:rPr>
              <a:t> a rider deciding whether to trust the ETA in their app.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1. 511 feed</a:t>
            </a:r>
          </a:p>
        </p:txBody>
      </p:sp>
      <p:sp>
        <p:nvSpPr>
          <p:cNvPr id="14" name="Right Triangle 13"/>
          <p:cNvSpPr/>
          <p:nvPr/>
        </p:nvSpPr>
        <p:spPr>
          <a:xfrm>
            <a:off x="177322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86466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2. poller</a:t>
            </a:r>
          </a:p>
        </p:txBody>
      </p:sp>
      <p:sp>
        <p:nvSpPr>
          <p:cNvPr id="16" name="Right Triangle 15"/>
          <p:cNvSpPr/>
          <p:nvPr/>
        </p:nvSpPr>
        <p:spPr>
          <a:xfrm>
            <a:off x="299780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08924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3. archive</a:t>
            </a:r>
          </a:p>
        </p:txBody>
      </p:sp>
      <p:sp>
        <p:nvSpPr>
          <p:cNvPr id="18" name="Right Triangle 17"/>
          <p:cNvSpPr/>
          <p:nvPr/>
        </p:nvSpPr>
        <p:spPr>
          <a:xfrm>
            <a:off x="422239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31383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4. producer</a:t>
            </a:r>
          </a:p>
        </p:txBody>
      </p:sp>
      <p:sp>
        <p:nvSpPr>
          <p:cNvPr id="20" name="Right Triangle 19"/>
          <p:cNvSpPr/>
          <p:nvPr/>
        </p:nvSpPr>
        <p:spPr>
          <a:xfrm>
            <a:off x="544697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53841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5. Kafka</a:t>
            </a:r>
          </a:p>
        </p:txBody>
      </p:sp>
      <p:sp>
        <p:nvSpPr>
          <p:cNvPr id="22" name="Right Triangle 21"/>
          <p:cNvSpPr/>
          <p:nvPr/>
        </p:nvSpPr>
        <p:spPr>
          <a:xfrm>
            <a:off x="667156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76300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6. resolver</a:t>
            </a:r>
          </a:p>
        </p:txBody>
      </p:sp>
      <p:sp>
        <p:nvSpPr>
          <p:cNvPr id="24" name="Right Triangle 23"/>
          <p:cNvSpPr/>
          <p:nvPr/>
        </p:nvSpPr>
        <p:spPr>
          <a:xfrm>
            <a:off x="789614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98758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7. aggregator</a:t>
            </a:r>
          </a:p>
        </p:txBody>
      </p:sp>
      <p:sp>
        <p:nvSpPr>
          <p:cNvPr id="26" name="Right Triangle 25"/>
          <p:cNvSpPr/>
          <p:nvPr/>
        </p:nvSpPr>
        <p:spPr>
          <a:xfrm>
            <a:off x="912073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21217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8. outputs</a:t>
            </a:r>
          </a:p>
        </p:txBody>
      </p:sp>
      <p:sp>
        <p:nvSpPr>
          <p:cNvPr id="28" name="Right Triangle 27"/>
          <p:cNvSpPr/>
          <p:nvPr/>
        </p:nvSpPr>
        <p:spPr>
          <a:xfrm>
            <a:off x="1034531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43675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9. model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Calibri"/>
              </a:rPr>
              <a:t>The whole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>
                <a:solidFill>
                  <a:srgbClr val="5B667A"/>
                </a:solidFill>
                <a:latin typeface="Calibri"/>
              </a:rPr>
              <a:t>We'll walk it left to right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72768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Calibri"/>
              </a:rPr>
              <a:t>Borna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65960"/>
            <a:ext cx="1572768" cy="731520"/>
          </a:xfrm>
          <a:prstGeom prst="roundRect">
            <a:avLst>
              <a:gd name="adj" fmla="val 12000"/>
            </a:avLst>
          </a:prstGeom>
          <a:solidFill>
            <a:srgbClr val="F2F5F8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Calibri"/>
              </a:rPr>
              <a:t>1. 511 feed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Calibri"/>
              </a:rPr>
              <a:t>protobuf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249424" y="2258568"/>
            <a:ext cx="201168" cy="146304"/>
          </a:xfrm>
          <a:prstGeom prst="rightArrow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487168" y="1965960"/>
            <a:ext cx="1572768" cy="731520"/>
          </a:xfrm>
          <a:prstGeom prst="roundRect">
            <a:avLst>
              <a:gd name="adj" fmla="val 12000"/>
            </a:avLst>
          </a:prstGeom>
          <a:solidFill>
            <a:srgbClr val="F2F5F8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Calibri"/>
              </a:rPr>
              <a:t>2. poller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Calibri"/>
              </a:rPr>
              <a:t>archive first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096512" y="2258568"/>
            <a:ext cx="201168" cy="146304"/>
          </a:xfrm>
          <a:prstGeom prst="rightArrow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34256" y="1965960"/>
            <a:ext cx="1572768" cy="731520"/>
          </a:xfrm>
          <a:prstGeom prst="roundRect">
            <a:avLst>
              <a:gd name="adj" fmla="val 12000"/>
            </a:avLst>
          </a:prstGeom>
          <a:solidFill>
            <a:srgbClr val="E8F1F7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Calibri"/>
              </a:rPr>
              <a:t>3. data/raw/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Calibri"/>
              </a:rPr>
              <a:t>system of record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943600" y="2258568"/>
            <a:ext cx="201168" cy="146304"/>
          </a:xfrm>
          <a:prstGeom prst="rightArrow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81344" y="1965960"/>
            <a:ext cx="1572768" cy="731520"/>
          </a:xfrm>
          <a:prstGeom prst="roundRect">
            <a:avLst>
              <a:gd name="adj" fmla="val 12000"/>
            </a:avLst>
          </a:prstGeom>
          <a:solidFill>
            <a:srgbClr val="F2F5F8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Calibri"/>
              </a:rPr>
              <a:t>4. producer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Calibri"/>
              </a:rPr>
              <a:t>validate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790688" y="2258568"/>
            <a:ext cx="201168" cy="146304"/>
          </a:xfrm>
          <a:prstGeom prst="rightArrow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28432" y="1965960"/>
            <a:ext cx="1572768" cy="731520"/>
          </a:xfrm>
          <a:prstGeom prst="roundRect">
            <a:avLst>
              <a:gd name="adj" fmla="val 12000"/>
            </a:avLst>
          </a:prstGeom>
          <a:solidFill>
            <a:srgbClr val="E8F1F7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Calibri"/>
              </a:rPr>
              <a:t>5. Kafka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Calibri"/>
              </a:rPr>
              <a:t>4 topics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637776" y="2258568"/>
            <a:ext cx="201168" cy="146304"/>
          </a:xfrm>
          <a:prstGeom prst="rightArrow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554480" y="3200400"/>
            <a:ext cx="2011680" cy="731520"/>
          </a:xfrm>
          <a:prstGeom prst="roundRect">
            <a:avLst>
              <a:gd name="adj" fmla="val 12000"/>
            </a:avLst>
          </a:prstGeom>
          <a:solidFill>
            <a:srgbClr val="F2F5F8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Calibri"/>
              </a:rPr>
              <a:t>6. resolver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Calibri"/>
              </a:rPr>
              <a:t>GPS → arrivals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3602736" y="3493008"/>
            <a:ext cx="274320" cy="146304"/>
          </a:xfrm>
          <a:prstGeom prst="rightArrow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840480" y="3200400"/>
            <a:ext cx="2011680" cy="731520"/>
          </a:xfrm>
          <a:prstGeom prst="roundRect">
            <a:avLst>
              <a:gd name="adj" fmla="val 12000"/>
            </a:avLst>
          </a:prstGeom>
          <a:solidFill>
            <a:srgbClr val="F2F5F8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Calibri"/>
              </a:rPr>
              <a:t>7. aggregator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Calibri"/>
              </a:rPr>
              <a:t>join predictions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888736" y="3493008"/>
            <a:ext cx="274320" cy="146304"/>
          </a:xfrm>
          <a:prstGeom prst="rightArrow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26480" y="3200400"/>
            <a:ext cx="2011680" cy="731520"/>
          </a:xfrm>
          <a:prstGeom prst="roundRect">
            <a:avLst>
              <a:gd name="adj" fmla="val 12000"/>
            </a:avLst>
          </a:prstGeom>
          <a:solidFill>
            <a:srgbClr val="E8F1F7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Calibri"/>
              </a:rPr>
              <a:t>8. outputs/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Calibri"/>
              </a:rPr>
              <a:t>the metrics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174736" y="3493008"/>
            <a:ext cx="274320" cy="146304"/>
          </a:xfrm>
          <a:prstGeom prst="rightArrow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12480" y="3200400"/>
            <a:ext cx="2011680" cy="731520"/>
          </a:xfrm>
          <a:prstGeom prst="roundRect">
            <a:avLst>
              <a:gd name="adj" fmla="val 12000"/>
            </a:avLst>
          </a:prstGeom>
          <a:solidFill>
            <a:srgbClr val="F2F5F8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Calibri"/>
              </a:rPr>
              <a:t>9. model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Calibri"/>
              </a:rPr>
              <a:t>learn correction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3434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700" b="1">
                <a:solidFill>
                  <a:srgbClr val="1A1F2B"/>
                </a:solidFill>
                <a:latin typeface="Calibri"/>
              </a:rPr>
              <a:t>Borna:</a:t>
            </a:r>
            <a:r>
              <a:rPr sz="1700" b="0">
                <a:solidFill>
                  <a:srgbClr val="1A1F2B"/>
                </a:solidFill>
                <a:latin typeface="Calibri"/>
              </a:rPr>
              <a:t> stages 1–4, getting the data in and validated.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700" b="1">
                <a:solidFill>
                  <a:srgbClr val="1A1F2B"/>
                </a:solidFill>
                <a:latin typeface="Calibri"/>
              </a:rPr>
              <a:t>Aatish:</a:t>
            </a:r>
            <a:r>
              <a:rPr sz="1700" b="0">
                <a:solidFill>
                  <a:srgbClr val="1A1F2B"/>
                </a:solidFill>
                <a:latin typeface="Calibri"/>
              </a:rPr>
              <a:t> stages 5–9, turning it into an answer.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Calibri"/>
              </a:rPr>
              <a:t>1–2 · The source, and one rule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Calibri"/>
              </a:rPr>
              <a:t>Borna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120640" cy="173736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45720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511.org</a:t>
            </a:r>
            <a:r>
              <a:rPr sz="1600" b="0">
                <a:solidFill>
                  <a:srgbClr val="1A1F2B"/>
                </a:solidFill>
                <a:latin typeface="Calibri"/>
              </a:rPr>
              <a:t> — one regional feed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28 operators</a:t>
            </a:r>
            <a:r>
              <a:rPr sz="1600" b="0">
                <a:solidFill>
                  <a:srgbClr val="1A1F2B"/>
                </a:solidFill>
                <a:latin typeface="Calibri"/>
              </a:rPr>
              <a:t>, GTFS-Realtime protobuf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60 requests/hour</a:t>
            </a:r>
            <a:r>
              <a:rPr sz="1600" b="0">
                <a:solidFill>
                  <a:srgbClr val="1A1F2B"/>
                </a:solidFill>
                <a:latin typeface="Calibri"/>
              </a:rPr>
              <a:t> → one poll per 120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965960"/>
            <a:ext cx="542513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The quota is not just a limit —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it is the </a:t>
            </a:r>
            <a:r>
              <a:rPr sz="1500" b="1">
                <a:solidFill>
                  <a:srgbClr val="1A1F2B"/>
                </a:solidFill>
                <a:latin typeface="Calibri"/>
              </a:rPr>
              <a:t>precision limit</a:t>
            </a:r>
            <a:r>
              <a:rPr sz="1500" b="0">
                <a:solidFill>
                  <a:srgbClr val="1A1F2B"/>
                </a:solidFill>
                <a:latin typeface="Calibri"/>
              </a:rPr>
              <a:t> on every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arrival we derive. So it travels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with every row as `poll_interval_s`.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977640"/>
            <a:ext cx="10911535" cy="1188720"/>
          </a:xfrm>
          <a:prstGeom prst="roundRect">
            <a:avLst>
              <a:gd name="adj" fmla="val 4000"/>
            </a:avLst>
          </a:prstGeom>
          <a:solidFill>
            <a:srgbClr val="FDF4E8"/>
          </a:solidFill>
          <a:ln w="9525">
            <a:solidFill>
              <a:srgbClr val="E8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160520"/>
            <a:ext cx="1027145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Write raw bytes to disk BEFORE decoding.</a:t>
            </a:r>
            <a:r>
              <a:rPr sz="1600" b="0">
                <a:solidFill>
                  <a:srgbClr val="1A1F2B"/>
                </a:solidFill>
                <a:latin typeface="Calibri"/>
              </a:rPr>
              <a:t>  A decode bug is recoverable — reprocess the file.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600" b="0">
                <a:solidFill>
                  <a:srgbClr val="1A1F2B"/>
                </a:solidFill>
                <a:latin typeface="Calibri"/>
              </a:rPr>
              <a:t>A poll never taken is gone forever. </a:t>
            </a:r>
            <a:r>
              <a:rPr sz="1600" b="1">
                <a:solidFill>
                  <a:srgbClr val="1A1F2B"/>
                </a:solidFill>
                <a:latin typeface="Calibri"/>
              </a:rPr>
              <a:t>Make the irreversible step the cheap one.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E8F1F7"/>
          </a:solidFill>
          <a:ln w="19050">
            <a:solidFill>
              <a:srgbClr val="0B6E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A1F2B"/>
                </a:solidFill>
                <a:latin typeface="Calibri"/>
              </a:rPr>
              <a:t>1. 511 feed</a:t>
            </a:r>
          </a:p>
        </p:txBody>
      </p:sp>
      <p:sp>
        <p:nvSpPr>
          <p:cNvPr id="12" name="Right Triangle 11"/>
          <p:cNvSpPr/>
          <p:nvPr/>
        </p:nvSpPr>
        <p:spPr>
          <a:xfrm>
            <a:off x="177322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86466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E8F1F7"/>
          </a:solidFill>
          <a:ln w="19050">
            <a:solidFill>
              <a:srgbClr val="0B6E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A1F2B"/>
                </a:solidFill>
                <a:latin typeface="Calibri"/>
              </a:rPr>
              <a:t>2. poller</a:t>
            </a:r>
          </a:p>
        </p:txBody>
      </p:sp>
      <p:sp>
        <p:nvSpPr>
          <p:cNvPr id="14" name="Right Triangle 13"/>
          <p:cNvSpPr/>
          <p:nvPr/>
        </p:nvSpPr>
        <p:spPr>
          <a:xfrm>
            <a:off x="299780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08924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3. archive</a:t>
            </a:r>
          </a:p>
        </p:txBody>
      </p:sp>
      <p:sp>
        <p:nvSpPr>
          <p:cNvPr id="16" name="Right Triangle 15"/>
          <p:cNvSpPr/>
          <p:nvPr/>
        </p:nvSpPr>
        <p:spPr>
          <a:xfrm>
            <a:off x="422239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1383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4. producer</a:t>
            </a:r>
          </a:p>
        </p:txBody>
      </p:sp>
      <p:sp>
        <p:nvSpPr>
          <p:cNvPr id="18" name="Right Triangle 17"/>
          <p:cNvSpPr/>
          <p:nvPr/>
        </p:nvSpPr>
        <p:spPr>
          <a:xfrm>
            <a:off x="544697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53841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5. Kafka</a:t>
            </a:r>
          </a:p>
        </p:txBody>
      </p:sp>
      <p:sp>
        <p:nvSpPr>
          <p:cNvPr id="20" name="Right Triangle 19"/>
          <p:cNvSpPr/>
          <p:nvPr/>
        </p:nvSpPr>
        <p:spPr>
          <a:xfrm>
            <a:off x="667156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76300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6. resolver</a:t>
            </a:r>
          </a:p>
        </p:txBody>
      </p:sp>
      <p:sp>
        <p:nvSpPr>
          <p:cNvPr id="22" name="Right Triangle 21"/>
          <p:cNvSpPr/>
          <p:nvPr/>
        </p:nvSpPr>
        <p:spPr>
          <a:xfrm>
            <a:off x="789614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98758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7. aggregator</a:t>
            </a:r>
          </a:p>
        </p:txBody>
      </p:sp>
      <p:sp>
        <p:nvSpPr>
          <p:cNvPr id="24" name="Right Triangle 23"/>
          <p:cNvSpPr/>
          <p:nvPr/>
        </p:nvSpPr>
        <p:spPr>
          <a:xfrm>
            <a:off x="912073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21217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8. outputs</a:t>
            </a:r>
          </a:p>
        </p:txBody>
      </p:sp>
      <p:sp>
        <p:nvSpPr>
          <p:cNvPr id="26" name="Right Triangle 25"/>
          <p:cNvSpPr/>
          <p:nvPr/>
        </p:nvSpPr>
        <p:spPr>
          <a:xfrm>
            <a:off x="1034531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43675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9. model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Calibri"/>
              </a:rPr>
              <a:t>3–4 · Archive, then a validated event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Calibri"/>
              </a:rPr>
              <a:t>Borna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20"/>
            <a:ext cx="5943600" cy="310896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039112"/>
            <a:ext cx="5486400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 b="0">
                <a:solidFill>
                  <a:srgbClr val="1A1F2B"/>
                </a:solidFill>
                <a:latin typeface="Consolas"/>
              </a:rPr>
              <a:t>key = "20260806:SF:12086593_M11"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 b="0">
                <a:solidFill>
                  <a:srgbClr val="1A1F2B"/>
                </a:solidFill>
                <a:latin typeface="Consolas"/>
              </a:rPr>
              <a:t>{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 b="0">
                <a:solidFill>
                  <a:srgbClr val="1A1F2B"/>
                </a:solidFill>
                <a:latin typeface="Consolas"/>
              </a:rPr>
              <a:t>  "envelope": {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 b="0">
                <a:solidFill>
                  <a:srgbClr val="1A1F2B"/>
                </a:solidFill>
                <a:latin typeface="Consolas"/>
              </a:rPr>
              <a:t>    "poll_interval_s": 120,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 b="0">
                <a:solidFill>
                  <a:srgbClr val="1A1F2B"/>
                </a:solidFill>
                <a:latin typeface="Consolas"/>
              </a:rPr>
              <a:t>    "ingest_ts": "...",       // when WE got it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 b="0">
                <a:solidFill>
                  <a:srgbClr val="1A1F2B"/>
                </a:solidFill>
                <a:latin typeface="Consolas"/>
              </a:rPr>
              <a:t>  },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 b="0">
                <a:solidFill>
                  <a:srgbClr val="1A1F2B"/>
                </a:solidFill>
                <a:latin typeface="Consolas"/>
              </a:rPr>
              <a:t>  "trip": {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 b="0">
                <a:solidFill>
                  <a:srgbClr val="1A1F2B"/>
                </a:solidFill>
                <a:latin typeface="Consolas"/>
              </a:rPr>
              <a:t>    "trip_id":      "SF:12086593_M11",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 b="0">
                <a:solidFill>
                  <a:srgbClr val="1A1F2B"/>
                </a:solidFill>
                <a:latin typeface="Consolas"/>
              </a:rPr>
              <a:t>    "route_id":     "SF:PM",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 b="0">
                <a:solidFill>
                  <a:srgbClr val="1A1F2B"/>
                </a:solidFill>
                <a:latin typeface="Consolas"/>
              </a:rPr>
              <a:t>    "service_date": "20260806"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 b="0">
                <a:solidFill>
                  <a:srgbClr val="1A1F2B"/>
                </a:solidFill>
                <a:latin typeface="Consolas"/>
              </a:rPr>
              <a:t>  },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 b="0">
                <a:solidFill>
                  <a:srgbClr val="1A1F2B"/>
                </a:solidFill>
                <a:latin typeface="Consolas"/>
              </a:rPr>
              <a:t>  "stop_sequence":       4,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 b="0">
                <a:solidFill>
                  <a:srgbClr val="1A1F2B"/>
                </a:solidFill>
                <a:latin typeface="Consolas"/>
              </a:rPr>
              <a:t>  "arrival_time_epoch":  1786053234,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 b="0">
                <a:solidFill>
                  <a:srgbClr val="1A1F2B"/>
                </a:solidFill>
                <a:latin typeface="Consolas"/>
              </a:rPr>
              <a:t>  "arrival_uncertainty": </a:t>
            </a:r>
            <a:r>
              <a:rPr sz="1250" b="1">
                <a:solidFill>
                  <a:srgbClr val="B45309"/>
                </a:solidFill>
                <a:latin typeface="Consolas"/>
              </a:rPr>
              <a:t>null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 b="0">
                <a:solidFill>
                  <a:srgbClr val="1A1F2B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1920240"/>
            <a:ext cx="46021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1">
                <a:solidFill>
                  <a:srgbClr val="1A1F2B"/>
                </a:solidFill>
                <a:latin typeface="Calibri"/>
              </a:rPr>
              <a:t>Key = service_date : trip_id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trip IDs repeat every day, and this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keeps one trip in one partition,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in order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3246120"/>
            <a:ext cx="4602175" cy="1783080"/>
          </a:xfrm>
          <a:prstGeom prst="roundRect">
            <a:avLst>
              <a:gd name="adj" fmla="val 4000"/>
            </a:avLst>
          </a:prstGeom>
          <a:solidFill>
            <a:srgbClr val="FDF4E8"/>
          </a:solidFill>
          <a:ln w="9525">
            <a:solidFill>
              <a:srgbClr val="E8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78040" y="3429000"/>
            <a:ext cx="4144975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1">
                <a:solidFill>
                  <a:srgbClr val="B45309"/>
                </a:solidFill>
                <a:latin typeface="Calibri"/>
              </a:rPr>
              <a:t>null ≠ 0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B45309"/>
                </a:solidFill>
                <a:latin typeface="Calibri"/>
              </a:rPr>
              <a:t>`0` = exactly on time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B45309"/>
                </a:solidFill>
                <a:latin typeface="Calibri"/>
              </a:rPr>
              <a:t>absent = no information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1">
                <a:solidFill>
                  <a:srgbClr val="B45309"/>
                </a:solidFill>
                <a:latin typeface="Calibri"/>
              </a:rPr>
              <a:t>44.2%</a:t>
            </a:r>
            <a:r>
              <a:rPr sz="1400" b="0">
                <a:solidFill>
                  <a:srgbClr val="B45309"/>
                </a:solidFill>
                <a:latin typeface="Calibri"/>
              </a:rPr>
              <a:t> of records have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B45309"/>
                </a:solidFill>
                <a:latin typeface="Calibri"/>
              </a:rPr>
              <a:t>no delay value at all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1. 511 feed</a:t>
            </a:r>
          </a:p>
        </p:txBody>
      </p:sp>
      <p:sp>
        <p:nvSpPr>
          <p:cNvPr id="12" name="Right Triangle 11"/>
          <p:cNvSpPr/>
          <p:nvPr/>
        </p:nvSpPr>
        <p:spPr>
          <a:xfrm>
            <a:off x="177322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86466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2. poller</a:t>
            </a:r>
          </a:p>
        </p:txBody>
      </p:sp>
      <p:sp>
        <p:nvSpPr>
          <p:cNvPr id="14" name="Right Triangle 13"/>
          <p:cNvSpPr/>
          <p:nvPr/>
        </p:nvSpPr>
        <p:spPr>
          <a:xfrm>
            <a:off x="299780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08924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E8F1F7"/>
          </a:solidFill>
          <a:ln w="19050">
            <a:solidFill>
              <a:srgbClr val="0B6E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A1F2B"/>
                </a:solidFill>
                <a:latin typeface="Calibri"/>
              </a:rPr>
              <a:t>3. archive</a:t>
            </a:r>
          </a:p>
        </p:txBody>
      </p:sp>
      <p:sp>
        <p:nvSpPr>
          <p:cNvPr id="16" name="Right Triangle 15"/>
          <p:cNvSpPr/>
          <p:nvPr/>
        </p:nvSpPr>
        <p:spPr>
          <a:xfrm>
            <a:off x="422239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1383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E8F1F7"/>
          </a:solidFill>
          <a:ln w="19050">
            <a:solidFill>
              <a:srgbClr val="0B6E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A1F2B"/>
                </a:solidFill>
                <a:latin typeface="Calibri"/>
              </a:rPr>
              <a:t>4. producer</a:t>
            </a:r>
          </a:p>
        </p:txBody>
      </p:sp>
      <p:sp>
        <p:nvSpPr>
          <p:cNvPr id="18" name="Right Triangle 17"/>
          <p:cNvSpPr/>
          <p:nvPr/>
        </p:nvSpPr>
        <p:spPr>
          <a:xfrm>
            <a:off x="544697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53841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5. Kafka</a:t>
            </a:r>
          </a:p>
        </p:txBody>
      </p:sp>
      <p:sp>
        <p:nvSpPr>
          <p:cNvPr id="20" name="Right Triangle 19"/>
          <p:cNvSpPr/>
          <p:nvPr/>
        </p:nvSpPr>
        <p:spPr>
          <a:xfrm>
            <a:off x="667156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76300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6. resolver</a:t>
            </a:r>
          </a:p>
        </p:txBody>
      </p:sp>
      <p:sp>
        <p:nvSpPr>
          <p:cNvPr id="22" name="Right Triangle 21"/>
          <p:cNvSpPr/>
          <p:nvPr/>
        </p:nvSpPr>
        <p:spPr>
          <a:xfrm>
            <a:off x="789614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98758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7. aggregator</a:t>
            </a:r>
          </a:p>
        </p:txBody>
      </p:sp>
      <p:sp>
        <p:nvSpPr>
          <p:cNvPr id="24" name="Right Triangle 23"/>
          <p:cNvSpPr/>
          <p:nvPr/>
        </p:nvSpPr>
        <p:spPr>
          <a:xfrm>
            <a:off x="912073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21217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8. outputs</a:t>
            </a:r>
          </a:p>
        </p:txBody>
      </p:sp>
      <p:sp>
        <p:nvSpPr>
          <p:cNvPr id="26" name="Right Triangle 25"/>
          <p:cNvSpPr/>
          <p:nvPr/>
        </p:nvSpPr>
        <p:spPr>
          <a:xfrm>
            <a:off x="1034531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43675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9. model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Calibri"/>
              </a:rPr>
              <a:t>5 · Kafka — and why these settings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Calibri"/>
              </a:rPr>
              <a:t>Aatish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745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0B6E99"/>
                </a:solidFill>
                <a:latin typeface="Calibri"/>
              </a:rPr>
              <a:t>topic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74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0B6E99"/>
                </a:solidFill>
                <a:latin typeface="Calibri"/>
              </a:rPr>
              <a:t>parts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0" y="1874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0B6E99"/>
                </a:solidFill>
                <a:latin typeface="Calibri"/>
              </a:rPr>
              <a:t>retention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2199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Calibri"/>
              </a:rPr>
              <a:t>gtfsrt.trip_updates.v1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22219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2219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Calibri"/>
              </a:rPr>
              <a:t>24 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53288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Calibri"/>
              </a:rPr>
              <a:t>gtfsrt.vehicle_positions.v1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5328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25328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Calibri"/>
              </a:rPr>
              <a:t>24 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843784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Calibri"/>
              </a:rPr>
              <a:t>gtfsrt.dead_letter.v1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28437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Calibr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28437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Calibri"/>
              </a:rPr>
              <a:t>7 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1546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Calibri"/>
              </a:rPr>
              <a:t>transit.arrival_events.v1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31546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31546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Calibri"/>
              </a:rPr>
              <a:t>7 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1874520"/>
            <a:ext cx="4876495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1">
                <a:solidFill>
                  <a:srgbClr val="1A1F2B"/>
                </a:solidFill>
                <a:latin typeface="Calibri"/>
              </a:rPr>
              <a:t>retention = 24 h, on purpose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Kafka is transport. The archive is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storage.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1">
                <a:solidFill>
                  <a:srgbClr val="1A1F2B"/>
                </a:solidFill>
                <a:latin typeface="Calibri"/>
              </a:rPr>
              <a:t>delete, never compact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Compaction keeps only the newest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message per key — it would discard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the state transitions we read.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1">
                <a:solidFill>
                  <a:srgbClr val="1A1F2B"/>
                </a:solidFill>
                <a:latin typeface="Calibri"/>
              </a:rPr>
              <a:t>3 partitions, chosen not defaulted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Count is effectively permanent: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changing it re-routes keys and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breaks ordering retroactively.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1. 511 feed</a:t>
            </a:r>
          </a:p>
        </p:txBody>
      </p:sp>
      <p:sp>
        <p:nvSpPr>
          <p:cNvPr id="23" name="Right Triangle 22"/>
          <p:cNvSpPr/>
          <p:nvPr/>
        </p:nvSpPr>
        <p:spPr>
          <a:xfrm>
            <a:off x="177322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86466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2. poller</a:t>
            </a:r>
          </a:p>
        </p:txBody>
      </p:sp>
      <p:sp>
        <p:nvSpPr>
          <p:cNvPr id="25" name="Right Triangle 24"/>
          <p:cNvSpPr/>
          <p:nvPr/>
        </p:nvSpPr>
        <p:spPr>
          <a:xfrm>
            <a:off x="299780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08924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3. archive</a:t>
            </a:r>
          </a:p>
        </p:txBody>
      </p:sp>
      <p:sp>
        <p:nvSpPr>
          <p:cNvPr id="27" name="Right Triangle 26"/>
          <p:cNvSpPr/>
          <p:nvPr/>
        </p:nvSpPr>
        <p:spPr>
          <a:xfrm>
            <a:off x="422239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31383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4. producer</a:t>
            </a:r>
          </a:p>
        </p:txBody>
      </p:sp>
      <p:sp>
        <p:nvSpPr>
          <p:cNvPr id="29" name="Right Triangle 28"/>
          <p:cNvSpPr/>
          <p:nvPr/>
        </p:nvSpPr>
        <p:spPr>
          <a:xfrm>
            <a:off x="544697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53841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E8F1F7"/>
          </a:solidFill>
          <a:ln w="19050">
            <a:solidFill>
              <a:srgbClr val="0B6E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A1F2B"/>
                </a:solidFill>
                <a:latin typeface="Calibri"/>
              </a:rPr>
              <a:t>5. Kafka</a:t>
            </a:r>
          </a:p>
        </p:txBody>
      </p:sp>
      <p:sp>
        <p:nvSpPr>
          <p:cNvPr id="31" name="Right Triangle 30"/>
          <p:cNvSpPr/>
          <p:nvPr/>
        </p:nvSpPr>
        <p:spPr>
          <a:xfrm>
            <a:off x="667156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76300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6. resolver</a:t>
            </a:r>
          </a:p>
        </p:txBody>
      </p:sp>
      <p:sp>
        <p:nvSpPr>
          <p:cNvPr id="33" name="Right Triangle 32"/>
          <p:cNvSpPr/>
          <p:nvPr/>
        </p:nvSpPr>
        <p:spPr>
          <a:xfrm>
            <a:off x="789614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98758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7. aggregator</a:t>
            </a:r>
          </a:p>
        </p:txBody>
      </p:sp>
      <p:sp>
        <p:nvSpPr>
          <p:cNvPr id="35" name="Right Triangle 34"/>
          <p:cNvSpPr/>
          <p:nvPr/>
        </p:nvSpPr>
        <p:spPr>
          <a:xfrm>
            <a:off x="912073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21217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8. outputs</a:t>
            </a:r>
          </a:p>
        </p:txBody>
      </p:sp>
      <p:sp>
        <p:nvSpPr>
          <p:cNvPr id="37" name="Right Triangle 36"/>
          <p:cNvSpPr/>
          <p:nvPr/>
        </p:nvSpPr>
        <p:spPr>
          <a:xfrm>
            <a:off x="1034531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043675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9. model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Calibri"/>
              </a:rPr>
              <a:t>6 · The resolver — one real vehicle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Calibri"/>
              </a:rPr>
              <a:t>Aatish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20"/>
            <a:ext cx="6309360" cy="214884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39112"/>
            <a:ext cx="58521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350" b="0">
                <a:solidFill>
                  <a:srgbClr val="1A1F2B"/>
                </a:solidFill>
                <a:latin typeface="Consolas"/>
              </a:rPr>
              <a:t>Powell–Mason cable car, trip SF:12086593_M11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350" b="0">
                <a:solidFill>
                  <a:srgbClr val="1A1F2B"/>
                </a:solidFill>
                <a:latin typeface="Consolas"/>
              </a:rPr>
              <a:t>14:52:43   IN_TRANSIT_TO   stop_sequence 4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350" b="0">
                <a:solidFill>
                  <a:srgbClr val="1A1F2B"/>
                </a:solidFill>
                <a:latin typeface="Consolas"/>
              </a:rPr>
              <a:t>14:54:31   </a:t>
            </a:r>
            <a:r>
              <a:rPr sz="1350" b="1">
                <a:solidFill>
                  <a:srgbClr val="B45309"/>
                </a:solidFill>
                <a:latin typeface="Consolas"/>
              </a:rPr>
              <a:t>STOPPED_AT      stop_sequence 4     &lt;- ARRIVED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350" b="0">
                <a:solidFill>
                  <a:srgbClr val="1A1F2B"/>
                </a:solidFill>
                <a:latin typeface="Consolas"/>
              </a:rPr>
              <a:t>14:56:50   STOPPED_AT      stop_sequence 6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350" b="0">
                <a:solidFill>
                  <a:srgbClr val="1A1F2B"/>
                </a:solidFill>
                <a:latin typeface="Consolas"/>
              </a:rPr>
              <a:t>14:59:55   STOPPED_AT      stop_sequence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1874520"/>
            <a:ext cx="4236415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400" b="1">
                <a:solidFill>
                  <a:srgbClr val="1A1F2B"/>
                </a:solidFill>
                <a:latin typeface="Calibri"/>
              </a:rPr>
              <a:t>READ from the feed: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`current_status` is a published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GTFS-RT field — we don't infer it.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400" b="1">
                <a:solidFill>
                  <a:srgbClr val="1A1F2B"/>
                </a:solidFill>
                <a:latin typeface="Calibri"/>
              </a:rPr>
              <a:t>DERIVED by us: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the arrival — the moment that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status *first* appears for a stop.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First, not last: a parked vehicle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reports it every poll, so the last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would be </a:t>
            </a:r>
            <a:r>
              <a:rPr sz="1400" b="1">
                <a:solidFill>
                  <a:srgbClr val="1A1F2B"/>
                </a:solidFill>
                <a:latin typeface="Calibri"/>
              </a:rPr>
              <a:t>departure</a:t>
            </a:r>
            <a:r>
              <a:rPr sz="1400" b="0">
                <a:solidFill>
                  <a:srgbClr val="1A1F2B"/>
                </a:solidFill>
                <a:latin typeface="Calibri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251960"/>
            <a:ext cx="1091153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5B667A"/>
                </a:solidFill>
                <a:latin typeface="Calibri"/>
              </a:rPr>
              <a:t>Every arrival is stamped with </a:t>
            </a:r>
            <a:r>
              <a:rPr sz="1400" b="1">
                <a:solidFill>
                  <a:srgbClr val="5B667A"/>
                </a:solidFill>
                <a:latin typeface="Calibri"/>
              </a:rPr>
              <a:t>how</a:t>
            </a:r>
            <a:r>
              <a:rPr sz="1400" b="0">
                <a:solidFill>
                  <a:srgbClr val="5B667A"/>
                </a:solidFill>
                <a:latin typeface="Calibri"/>
              </a:rPr>
              <a:t> it was derived: method, confidence, poll_interval_s.  Only 15 of 28 operators support this.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1. 511 feed</a:t>
            </a:r>
          </a:p>
        </p:txBody>
      </p:sp>
      <p:sp>
        <p:nvSpPr>
          <p:cNvPr id="11" name="Right Triangle 10"/>
          <p:cNvSpPr/>
          <p:nvPr/>
        </p:nvSpPr>
        <p:spPr>
          <a:xfrm>
            <a:off x="177322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86466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2. poller</a:t>
            </a:r>
          </a:p>
        </p:txBody>
      </p:sp>
      <p:sp>
        <p:nvSpPr>
          <p:cNvPr id="13" name="Right Triangle 12"/>
          <p:cNvSpPr/>
          <p:nvPr/>
        </p:nvSpPr>
        <p:spPr>
          <a:xfrm>
            <a:off x="299780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08924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3. archive</a:t>
            </a:r>
          </a:p>
        </p:txBody>
      </p:sp>
      <p:sp>
        <p:nvSpPr>
          <p:cNvPr id="15" name="Right Triangle 14"/>
          <p:cNvSpPr/>
          <p:nvPr/>
        </p:nvSpPr>
        <p:spPr>
          <a:xfrm>
            <a:off x="422239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1383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4. producer</a:t>
            </a:r>
          </a:p>
        </p:txBody>
      </p:sp>
      <p:sp>
        <p:nvSpPr>
          <p:cNvPr id="17" name="Right Triangle 16"/>
          <p:cNvSpPr/>
          <p:nvPr/>
        </p:nvSpPr>
        <p:spPr>
          <a:xfrm>
            <a:off x="544697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53841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5. Kafka</a:t>
            </a:r>
          </a:p>
        </p:txBody>
      </p:sp>
      <p:sp>
        <p:nvSpPr>
          <p:cNvPr id="19" name="Right Triangle 18"/>
          <p:cNvSpPr/>
          <p:nvPr/>
        </p:nvSpPr>
        <p:spPr>
          <a:xfrm>
            <a:off x="667156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76300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E8F1F7"/>
          </a:solidFill>
          <a:ln w="19050">
            <a:solidFill>
              <a:srgbClr val="0B6E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A1F2B"/>
                </a:solidFill>
                <a:latin typeface="Calibri"/>
              </a:rPr>
              <a:t>6. resolver</a:t>
            </a:r>
          </a:p>
        </p:txBody>
      </p:sp>
      <p:sp>
        <p:nvSpPr>
          <p:cNvPr id="21" name="Right Triangle 20"/>
          <p:cNvSpPr/>
          <p:nvPr/>
        </p:nvSpPr>
        <p:spPr>
          <a:xfrm>
            <a:off x="789614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98758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7. aggregator</a:t>
            </a:r>
          </a:p>
        </p:txBody>
      </p:sp>
      <p:sp>
        <p:nvSpPr>
          <p:cNvPr id="23" name="Right Triangle 22"/>
          <p:cNvSpPr/>
          <p:nvPr/>
        </p:nvSpPr>
        <p:spPr>
          <a:xfrm>
            <a:off x="912073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21217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8. outputs</a:t>
            </a:r>
          </a:p>
        </p:txBody>
      </p:sp>
      <p:sp>
        <p:nvSpPr>
          <p:cNvPr id="25" name="Right Triangle 24"/>
          <p:cNvSpPr/>
          <p:nvPr/>
        </p:nvSpPr>
        <p:spPr>
          <a:xfrm>
            <a:off x="1034531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43675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9.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Calibri"/>
              </a:rPr>
              <a:t>7–8 · Join, and the answer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Calibri"/>
              </a:rPr>
              <a:t>Aatish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20"/>
            <a:ext cx="4572000" cy="11430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039112"/>
            <a:ext cx="4114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50" b="0">
                <a:solidFill>
                  <a:srgbClr val="1A1F2B"/>
                </a:solidFill>
                <a:latin typeface="Calibri"/>
              </a:rPr>
              <a:t>Our cable car: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50" b="1">
                <a:solidFill>
                  <a:srgbClr val="1A1F2B"/>
                </a:solidFill>
                <a:latin typeface="Calibri"/>
              </a:rPr>
              <a:t>predicted 14:53:54 · arrived 14:54:31 → 37 s 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210312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5B667A"/>
                </a:solidFill>
                <a:latin typeface="Calibri"/>
              </a:rPr>
              <a:t>one of </a:t>
            </a:r>
            <a:r>
              <a:rPr sz="1500" b="1">
                <a:solidFill>
                  <a:srgbClr val="5B667A"/>
                </a:solidFill>
                <a:latin typeface="Calibri"/>
              </a:rPr>
              <a:t>25,501</a:t>
            </a:r>
            <a:r>
              <a:rPr sz="1500" b="0">
                <a:solidFill>
                  <a:srgbClr val="5B667A"/>
                </a:solidFill>
                <a:latin typeface="Calibri"/>
              </a:rPr>
              <a:t> pairs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566160"/>
            <a:ext cx="6675120" cy="1905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291840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0B6E99"/>
                </a:solidFill>
                <a:latin typeface="Calibri"/>
              </a:rPr>
              <a:t>lead 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3291840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0B6E99"/>
                </a:solidFill>
                <a:latin typeface="Calibri"/>
              </a:rPr>
              <a:t>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3291840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0B6E99"/>
                </a:solidFill>
                <a:latin typeface="Calibri"/>
              </a:rPr>
              <a:t>bias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3291840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0B6E99"/>
                </a:solidFill>
                <a:latin typeface="Calibri"/>
              </a:rPr>
              <a:t>med |err|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3291840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0B6E99"/>
                </a:solidFill>
                <a:latin typeface="Calibri"/>
              </a:rPr>
              <a:t>&lt;60s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639312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0–2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3639312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509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3639312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−11 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639312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13 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3639312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92.7%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941064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2–5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94560" y="3941064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4,603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3941064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−46 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941064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50 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3941064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59.5%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242816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5–10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94560" y="4242816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4,897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3280" y="4242816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−66 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4242816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70 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4242816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43.3%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544568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10–20 min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4560" y="4544568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8,919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80" y="4544568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−98 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63440" y="4544568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102 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4544568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31.1%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4846320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20+ min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94560" y="4846320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6,573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80" y="4846320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B45309"/>
                </a:solidFill>
                <a:latin typeface="Calibri"/>
              </a:rPr>
              <a:t>−142 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63440" y="4846320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146 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26480" y="4846320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23.0%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0" y="3337560"/>
            <a:ext cx="377921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5B667A"/>
                </a:solidFill>
                <a:latin typeface="Calibri"/>
              </a:rPr>
              <a:t>Credible only because the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5B667A"/>
                </a:solidFill>
                <a:latin typeface="Calibri"/>
              </a:rPr>
              <a:t>two halves are </a:t>
            </a:r>
            <a:r>
              <a:rPr sz="1350" b="1">
                <a:solidFill>
                  <a:srgbClr val="5B667A"/>
                </a:solidFill>
                <a:latin typeface="Calibri"/>
              </a:rPr>
              <a:t>independent</a:t>
            </a:r>
            <a:r>
              <a:rPr sz="1350" b="0">
                <a:solidFill>
                  <a:srgbClr val="5B667A"/>
                </a:solidFill>
                <a:latin typeface="Calibri"/>
              </a:rPr>
              <a:t>: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5B667A"/>
                </a:solidFill>
                <a:latin typeface="Calibri"/>
              </a:rPr>
              <a:t>predicted ← TripUpdates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5B667A"/>
                </a:solidFill>
                <a:latin typeface="Calibri"/>
              </a:rPr>
              <a:t>actual ← VehiclePositions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5B667A"/>
                </a:solidFill>
                <a:latin typeface="Calibri"/>
              </a:rPr>
              <a:t>Deriving one from the other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5B667A"/>
                </a:solidFill>
                <a:latin typeface="Calibri"/>
              </a:rPr>
              <a:t>measures the agency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1">
                <a:solidFill>
                  <a:srgbClr val="5B667A"/>
                </a:solidFill>
                <a:latin typeface="Calibri"/>
              </a:rPr>
              <a:t>against itself.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80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1. 511 feed</a:t>
            </a:r>
          </a:p>
        </p:txBody>
      </p:sp>
      <p:sp>
        <p:nvSpPr>
          <p:cNvPr id="42" name="Right Triangle 41"/>
          <p:cNvSpPr/>
          <p:nvPr/>
        </p:nvSpPr>
        <p:spPr>
          <a:xfrm>
            <a:off x="177322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86466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2. poller</a:t>
            </a:r>
          </a:p>
        </p:txBody>
      </p:sp>
      <p:sp>
        <p:nvSpPr>
          <p:cNvPr id="44" name="Right Triangle 43"/>
          <p:cNvSpPr/>
          <p:nvPr/>
        </p:nvSpPr>
        <p:spPr>
          <a:xfrm>
            <a:off x="299780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08924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3. archive</a:t>
            </a:r>
          </a:p>
        </p:txBody>
      </p:sp>
      <p:sp>
        <p:nvSpPr>
          <p:cNvPr id="46" name="Right Triangle 45"/>
          <p:cNvSpPr/>
          <p:nvPr/>
        </p:nvSpPr>
        <p:spPr>
          <a:xfrm>
            <a:off x="422239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431383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4. producer</a:t>
            </a:r>
          </a:p>
        </p:txBody>
      </p:sp>
      <p:sp>
        <p:nvSpPr>
          <p:cNvPr id="48" name="Right Triangle 47"/>
          <p:cNvSpPr/>
          <p:nvPr/>
        </p:nvSpPr>
        <p:spPr>
          <a:xfrm>
            <a:off x="544697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53841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5. Kafka</a:t>
            </a:r>
          </a:p>
        </p:txBody>
      </p:sp>
      <p:sp>
        <p:nvSpPr>
          <p:cNvPr id="50" name="Right Triangle 49"/>
          <p:cNvSpPr/>
          <p:nvPr/>
        </p:nvSpPr>
        <p:spPr>
          <a:xfrm>
            <a:off x="667156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76300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6. resolver</a:t>
            </a:r>
          </a:p>
        </p:txBody>
      </p:sp>
      <p:sp>
        <p:nvSpPr>
          <p:cNvPr id="52" name="Right Triangle 51"/>
          <p:cNvSpPr/>
          <p:nvPr/>
        </p:nvSpPr>
        <p:spPr>
          <a:xfrm>
            <a:off x="789614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798758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E8F1F7"/>
          </a:solidFill>
          <a:ln w="19050">
            <a:solidFill>
              <a:srgbClr val="0B6E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A1F2B"/>
                </a:solidFill>
                <a:latin typeface="Calibri"/>
              </a:rPr>
              <a:t>7. aggregator</a:t>
            </a:r>
          </a:p>
        </p:txBody>
      </p:sp>
      <p:sp>
        <p:nvSpPr>
          <p:cNvPr id="54" name="Right Triangle 53"/>
          <p:cNvSpPr/>
          <p:nvPr/>
        </p:nvSpPr>
        <p:spPr>
          <a:xfrm>
            <a:off x="912073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921217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E8F1F7"/>
          </a:solidFill>
          <a:ln w="19050">
            <a:solidFill>
              <a:srgbClr val="0B6E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A1F2B"/>
                </a:solidFill>
                <a:latin typeface="Calibri"/>
              </a:rPr>
              <a:t>8. outputs</a:t>
            </a:r>
          </a:p>
        </p:txBody>
      </p:sp>
      <p:sp>
        <p:nvSpPr>
          <p:cNvPr id="56" name="Right Triangle 55"/>
          <p:cNvSpPr/>
          <p:nvPr/>
        </p:nvSpPr>
        <p:spPr>
          <a:xfrm>
            <a:off x="1034531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1043675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9. model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Calibri"/>
              </a:rPr>
              <a:t>Lesson: the wrong answer looked better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Calibri"/>
              </a:rPr>
              <a:t>Aatish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20"/>
            <a:ext cx="10911535" cy="1371600"/>
          </a:xfrm>
          <a:prstGeom prst="roundRect">
            <a:avLst>
              <a:gd name="adj" fmla="val 4000"/>
            </a:avLst>
          </a:prstGeom>
          <a:solidFill>
            <a:srgbClr val="FDF4E8"/>
          </a:solidFill>
          <a:ln w="9525">
            <a:solidFill>
              <a:srgbClr val="E8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1027145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50" b="0">
                <a:solidFill>
                  <a:srgbClr val="1A1F2B"/>
                </a:solidFill>
                <a:latin typeface="Calibri"/>
              </a:rPr>
              <a:t>Day-of-week </a:t>
            </a:r>
            <a:r>
              <a:rPr sz="1550" b="1">
                <a:solidFill>
                  <a:srgbClr val="1A1F2B"/>
                </a:solidFill>
                <a:latin typeface="Calibri"/>
              </a:rPr>
              <a:t>improved</a:t>
            </a:r>
            <a:r>
              <a:rPr sz="1550" b="0">
                <a:solidFill>
                  <a:srgbClr val="1A1F2B"/>
                </a:solidFill>
                <a:latin typeface="Calibri"/>
              </a:rPr>
              <a:t> test error by 10 seconds. We deleted it.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50" b="0">
                <a:solidFill>
                  <a:srgbClr val="1A1F2B"/>
                </a:solidFill>
                <a:latin typeface="Calibri"/>
              </a:rPr>
              <a:t>Monday appeared </a:t>
            </a:r>
            <a:r>
              <a:rPr sz="1550" b="1">
                <a:solidFill>
                  <a:srgbClr val="1A1F2B"/>
                </a:solidFill>
                <a:latin typeface="Calibri"/>
              </a:rPr>
              <a:t>only</a:t>
            </a:r>
            <a:r>
              <a:rPr sz="1550" b="0">
                <a:solidFill>
                  <a:srgbClr val="1A1F2B"/>
                </a:solidFill>
                <a:latin typeface="Calibri"/>
              </a:rPr>
              <a:t> in the test window — 31% of test rows carried a value the model had never seen, inheriting another day's correction through bin placement.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1">
                <a:solidFill>
                  <a:srgbClr val="B45309"/>
                </a:solidFill>
                <a:latin typeface="Calibri"/>
              </a:rPr>
              <a:t>A number you can't account for is not a result.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60520"/>
            <a:ext cx="1091153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Same shape as every real bug we hit — a mislabelled partition column, a duplicate replay that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doubled n while leaving every average identical. </a:t>
            </a:r>
            <a:r>
              <a:rPr sz="1500" b="1">
                <a:solidFill>
                  <a:srgbClr val="1A1F2B"/>
                </a:solidFill>
                <a:latin typeface="Calibri"/>
              </a:rPr>
              <a:t>None crashed. Several looked better.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1. 511 feed</a:t>
            </a:r>
          </a:p>
        </p:txBody>
      </p:sp>
      <p:sp>
        <p:nvSpPr>
          <p:cNvPr id="11" name="Right Triangle 10"/>
          <p:cNvSpPr/>
          <p:nvPr/>
        </p:nvSpPr>
        <p:spPr>
          <a:xfrm>
            <a:off x="177322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86466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2. poller</a:t>
            </a:r>
          </a:p>
        </p:txBody>
      </p:sp>
      <p:sp>
        <p:nvSpPr>
          <p:cNvPr id="13" name="Right Triangle 12"/>
          <p:cNvSpPr/>
          <p:nvPr/>
        </p:nvSpPr>
        <p:spPr>
          <a:xfrm>
            <a:off x="299780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08924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3. archive</a:t>
            </a:r>
          </a:p>
        </p:txBody>
      </p:sp>
      <p:sp>
        <p:nvSpPr>
          <p:cNvPr id="15" name="Right Triangle 14"/>
          <p:cNvSpPr/>
          <p:nvPr/>
        </p:nvSpPr>
        <p:spPr>
          <a:xfrm>
            <a:off x="422239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1383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4. producer</a:t>
            </a:r>
          </a:p>
        </p:txBody>
      </p:sp>
      <p:sp>
        <p:nvSpPr>
          <p:cNvPr id="17" name="Right Triangle 16"/>
          <p:cNvSpPr/>
          <p:nvPr/>
        </p:nvSpPr>
        <p:spPr>
          <a:xfrm>
            <a:off x="544697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53841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5. Kafka</a:t>
            </a:r>
          </a:p>
        </p:txBody>
      </p:sp>
      <p:sp>
        <p:nvSpPr>
          <p:cNvPr id="19" name="Right Triangle 18"/>
          <p:cNvSpPr/>
          <p:nvPr/>
        </p:nvSpPr>
        <p:spPr>
          <a:xfrm>
            <a:off x="667156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76300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6. resolver</a:t>
            </a:r>
          </a:p>
        </p:txBody>
      </p:sp>
      <p:sp>
        <p:nvSpPr>
          <p:cNvPr id="21" name="Right Triangle 20"/>
          <p:cNvSpPr/>
          <p:nvPr/>
        </p:nvSpPr>
        <p:spPr>
          <a:xfrm>
            <a:off x="789614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98758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7. aggregator</a:t>
            </a:r>
          </a:p>
        </p:txBody>
      </p:sp>
      <p:sp>
        <p:nvSpPr>
          <p:cNvPr id="23" name="Right Triangle 22"/>
          <p:cNvSpPr/>
          <p:nvPr/>
        </p:nvSpPr>
        <p:spPr>
          <a:xfrm>
            <a:off x="912073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21217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8. outputs</a:t>
            </a:r>
          </a:p>
        </p:txBody>
      </p:sp>
      <p:sp>
        <p:nvSpPr>
          <p:cNvPr id="25" name="Right Triangle 24"/>
          <p:cNvSpPr/>
          <p:nvPr/>
        </p:nvSpPr>
        <p:spPr>
          <a:xfrm>
            <a:off x="1034531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43675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9. model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Calibri"/>
              </a:rPr>
              <a:t>Limitation, and the next step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Calibri"/>
              </a:rPr>
              <a:t>Aatish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20"/>
            <a:ext cx="5272887" cy="265176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4724247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0B6E99"/>
                </a:solidFill>
                <a:latin typeface="Calibri"/>
              </a:rPr>
              <a:t>Limitation — measured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14600"/>
            <a:ext cx="4724247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We capture only </a:t>
            </a:r>
            <a:r>
              <a:rPr sz="1350" b="1">
                <a:solidFill>
                  <a:srgbClr val="1A1F2B"/>
                </a:solidFill>
                <a:latin typeface="Calibri"/>
              </a:rPr>
              <a:t>~21% of stop events</a:t>
            </a:r>
            <a:r>
              <a:rPr sz="1350" b="0">
                <a:solidFill>
                  <a:srgbClr val="1A1F2B"/>
                </a:solidFill>
                <a:latin typeface="Calibri"/>
              </a:rPr>
              <a:t>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Vehicles dwell for seconds; we sample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every 120 s.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And it isn't random — capture scales with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dwell, so </a:t>
            </a:r>
            <a:r>
              <a:rPr sz="1350" b="1">
                <a:solidFill>
                  <a:srgbClr val="1A1F2B"/>
                </a:solidFill>
                <a:latin typeface="Calibri"/>
              </a:rPr>
              <a:t>terminals are over-represented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and our arrivals skew late.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1">
                <a:solidFill>
                  <a:srgbClr val="1A1F2B"/>
                </a:solidFill>
                <a:latin typeface="Calibri"/>
              </a:rPr>
              <a:t>So the bias we report is an upper bound.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874520"/>
            <a:ext cx="5272887" cy="265176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53047" y="2057400"/>
            <a:ext cx="4724247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0B6E99"/>
                </a:solidFill>
                <a:latin typeface="Calibri"/>
              </a:rPr>
              <a:t>Next step — realistic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53047" y="2514600"/>
            <a:ext cx="4724247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1">
                <a:solidFill>
                  <a:srgbClr val="1A1F2B"/>
                </a:solidFill>
                <a:latin typeface="Calibri"/>
              </a:rPr>
              <a:t>Email 511 for a rate-limit increase.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One email. It attacks all three at once: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more events captured, tighter timestamps,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less selection bias.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Then: GTFS-Static for true on-time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performance, and a geofence resolver for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the 13 operators where this method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can't fire.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1. 511 feed</a:t>
            </a:r>
          </a:p>
        </p:txBody>
      </p:sp>
      <p:sp>
        <p:nvSpPr>
          <p:cNvPr id="13" name="Right Triangle 12"/>
          <p:cNvSpPr/>
          <p:nvPr/>
        </p:nvSpPr>
        <p:spPr>
          <a:xfrm>
            <a:off x="177322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86466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2. poller</a:t>
            </a:r>
          </a:p>
        </p:txBody>
      </p:sp>
      <p:sp>
        <p:nvSpPr>
          <p:cNvPr id="15" name="Right Triangle 14"/>
          <p:cNvSpPr/>
          <p:nvPr/>
        </p:nvSpPr>
        <p:spPr>
          <a:xfrm>
            <a:off x="299780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08924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3. archive</a:t>
            </a:r>
          </a:p>
        </p:txBody>
      </p:sp>
      <p:sp>
        <p:nvSpPr>
          <p:cNvPr id="17" name="Right Triangle 16"/>
          <p:cNvSpPr/>
          <p:nvPr/>
        </p:nvSpPr>
        <p:spPr>
          <a:xfrm>
            <a:off x="422239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31383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4. producer</a:t>
            </a:r>
          </a:p>
        </p:txBody>
      </p:sp>
      <p:sp>
        <p:nvSpPr>
          <p:cNvPr id="19" name="Right Triangle 18"/>
          <p:cNvSpPr/>
          <p:nvPr/>
        </p:nvSpPr>
        <p:spPr>
          <a:xfrm>
            <a:off x="544697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3841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5. Kafka</a:t>
            </a:r>
          </a:p>
        </p:txBody>
      </p:sp>
      <p:sp>
        <p:nvSpPr>
          <p:cNvPr id="21" name="Right Triangle 20"/>
          <p:cNvSpPr/>
          <p:nvPr/>
        </p:nvSpPr>
        <p:spPr>
          <a:xfrm>
            <a:off x="667156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76300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6. resolver</a:t>
            </a:r>
          </a:p>
        </p:txBody>
      </p:sp>
      <p:sp>
        <p:nvSpPr>
          <p:cNvPr id="23" name="Right Triangle 22"/>
          <p:cNvSpPr/>
          <p:nvPr/>
        </p:nvSpPr>
        <p:spPr>
          <a:xfrm>
            <a:off x="789614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98758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7. aggregator</a:t>
            </a:r>
          </a:p>
        </p:txBody>
      </p:sp>
      <p:sp>
        <p:nvSpPr>
          <p:cNvPr id="25" name="Right Triangle 24"/>
          <p:cNvSpPr/>
          <p:nvPr/>
        </p:nvSpPr>
        <p:spPr>
          <a:xfrm>
            <a:off x="912073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21217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8. outputs</a:t>
            </a:r>
          </a:p>
        </p:txBody>
      </p:sp>
      <p:sp>
        <p:nvSpPr>
          <p:cNvPr id="27" name="Right Triangle 26"/>
          <p:cNvSpPr/>
          <p:nvPr/>
        </p:nvSpPr>
        <p:spPr>
          <a:xfrm>
            <a:off x="1034531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043675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9. model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73736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1A1F2B"/>
                </a:solidFill>
                <a:latin typeface="Calibri"/>
              </a:rPr>
              <a:t>One command, no API key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651760"/>
            <a:ext cx="5120640" cy="8686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88036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2200" b="0">
                <a:solidFill>
                  <a:srgbClr val="1A1F2B"/>
                </a:solidFill>
                <a:latin typeface="Consolas"/>
              </a:rPr>
              <a:t>make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697480"/>
            <a:ext cx="5486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600" b="0">
                <a:solidFill>
                  <a:srgbClr val="5B667A"/>
                </a:solidFill>
                <a:latin typeface="Calibri"/>
              </a:rPr>
              <a:t>Kafka → replay → arrivals → metrics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600" b="0">
                <a:solidFill>
                  <a:srgbClr val="5B667A"/>
                </a:solidFill>
                <a:latin typeface="Calibri"/>
              </a:rPr>
              <a:t>→ 6 acceptance checks, in </a:t>
            </a:r>
            <a:r>
              <a:rPr sz="1600" b="1">
                <a:solidFill>
                  <a:srgbClr val="5B667A"/>
                </a:solidFill>
                <a:latin typeface="Calibri"/>
              </a:rPr>
              <a:t>~2 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93192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600" b="0">
                <a:solidFill>
                  <a:srgbClr val="1A1F2B"/>
                </a:solidFill>
                <a:latin typeface="Calibri"/>
              </a:rPr>
              <a:t>83 tests  ·  6/6 acceptance checks  ·  1.67 M records replayed, 0 dead-lettered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600" b="0">
                <a:solidFill>
                  <a:srgbClr val="1A1F2B"/>
                </a:solidFill>
                <a:latin typeface="Calibri"/>
              </a:rPr>
              <a:t>Verified from a clean extract of the submitted ZIP.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2920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600" b="1">
                <a:solidFill>
                  <a:srgbClr val="0B6E99"/>
                </a:solidFill>
                <a:latin typeface="Calibri"/>
              </a:rPr>
              <a:t>Questions?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1. 511 feed</a:t>
            </a:r>
          </a:p>
        </p:txBody>
      </p:sp>
      <p:sp>
        <p:nvSpPr>
          <p:cNvPr id="10" name="Right Triangle 9"/>
          <p:cNvSpPr/>
          <p:nvPr/>
        </p:nvSpPr>
        <p:spPr>
          <a:xfrm>
            <a:off x="177322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86466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2. poller</a:t>
            </a:r>
          </a:p>
        </p:txBody>
      </p:sp>
      <p:sp>
        <p:nvSpPr>
          <p:cNvPr id="12" name="Right Triangle 11"/>
          <p:cNvSpPr/>
          <p:nvPr/>
        </p:nvSpPr>
        <p:spPr>
          <a:xfrm>
            <a:off x="299780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08924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3. archive</a:t>
            </a:r>
          </a:p>
        </p:txBody>
      </p:sp>
      <p:sp>
        <p:nvSpPr>
          <p:cNvPr id="14" name="Right Triangle 13"/>
          <p:cNvSpPr/>
          <p:nvPr/>
        </p:nvSpPr>
        <p:spPr>
          <a:xfrm>
            <a:off x="422239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1383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4. producer</a:t>
            </a:r>
          </a:p>
        </p:txBody>
      </p:sp>
      <p:sp>
        <p:nvSpPr>
          <p:cNvPr id="16" name="Right Triangle 15"/>
          <p:cNvSpPr/>
          <p:nvPr/>
        </p:nvSpPr>
        <p:spPr>
          <a:xfrm>
            <a:off x="544697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53841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5. Kafka</a:t>
            </a:r>
          </a:p>
        </p:txBody>
      </p:sp>
      <p:sp>
        <p:nvSpPr>
          <p:cNvPr id="18" name="Right Triangle 17"/>
          <p:cNvSpPr/>
          <p:nvPr/>
        </p:nvSpPr>
        <p:spPr>
          <a:xfrm>
            <a:off x="667156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76300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6. resolver</a:t>
            </a:r>
          </a:p>
        </p:txBody>
      </p:sp>
      <p:sp>
        <p:nvSpPr>
          <p:cNvPr id="20" name="Right Triangle 19"/>
          <p:cNvSpPr/>
          <p:nvPr/>
        </p:nvSpPr>
        <p:spPr>
          <a:xfrm>
            <a:off x="789614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8758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7. aggregator</a:t>
            </a:r>
          </a:p>
        </p:txBody>
      </p:sp>
      <p:sp>
        <p:nvSpPr>
          <p:cNvPr id="22" name="Right Triangle 21"/>
          <p:cNvSpPr/>
          <p:nvPr/>
        </p:nvSpPr>
        <p:spPr>
          <a:xfrm>
            <a:off x="912073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21217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8. outputs</a:t>
            </a:r>
          </a:p>
        </p:txBody>
      </p:sp>
      <p:sp>
        <p:nvSpPr>
          <p:cNvPr id="24" name="Right Triangle 23"/>
          <p:cNvSpPr/>
          <p:nvPr/>
        </p:nvSpPr>
        <p:spPr>
          <a:xfrm>
            <a:off x="1034531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43675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9. model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Calibri"/>
              </a:rPr>
              <a:t>Appendix: the bounded AI element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Calibri"/>
              </a:rPr>
              <a:t>appendix — Q&amp;A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Predict the residual (actual − predicted), apply as a correction. Predicting 0 = trusting the agency.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34640"/>
            <a:ext cx="6126480" cy="1905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3749040" y="2560320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0B6E99"/>
                </a:solidFill>
                <a:latin typeface="Calibri"/>
              </a:rPr>
              <a:t>MAE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2560320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0B6E99"/>
                </a:solidFill>
                <a:latin typeface="Calibri"/>
              </a:rPr>
              <a:t>vs 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90779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trust the agency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40" y="2907792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195.2 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2907792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218688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add global mean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40" y="3218688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215.1 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218688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worse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529584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add mean per horizon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40" y="3529584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206.7 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0" y="3529584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worse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840480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A1F2B"/>
                </a:solidFill>
                <a:latin typeface="Calibri"/>
              </a:rPr>
              <a:t>gradient boosting 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40" y="3840480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A1F2B"/>
                </a:solidFill>
                <a:latin typeface="Calibri"/>
              </a:rPr>
              <a:t>166.6 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3840480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B45309"/>
                </a:solidFill>
                <a:latin typeface="Calibri"/>
              </a:rPr>
              <a:t>−14.7%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2514600"/>
            <a:ext cx="4236415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1">
                <a:solidFill>
                  <a:srgbClr val="1A1F2B"/>
                </a:solidFill>
                <a:latin typeface="Calibri"/>
              </a:rPr>
              <a:t>Both naive corrections are worse.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Residuals are right-skewed, so adding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the mean overcorrects.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1">
                <a:solidFill>
                  <a:srgbClr val="1A1F2B"/>
                </a:solidFill>
                <a:latin typeface="Calibri"/>
              </a:rPr>
              <a:t>Leakage guard:</a:t>
            </a:r>
            <a:r>
              <a:rPr sz="1350" b="0">
                <a:solidFill>
                  <a:srgbClr val="1A1F2B"/>
                </a:solidFill>
                <a:latin typeface="Calibri"/>
              </a:rPr>
              <a:t> labels from GPS,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features from predictions — different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feeds.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1">
                <a:solidFill>
                  <a:srgbClr val="1A1F2B"/>
                </a:solidFill>
                <a:latin typeface="Calibri"/>
              </a:rPr>
              <a:t>Fallback in code:</a:t>
            </a:r>
            <a:r>
              <a:rPr sz="1350" b="0">
                <a:solidFill>
                  <a:srgbClr val="1A1F2B"/>
                </a:solidFill>
                <a:latin typeface="Calibri"/>
              </a:rPr>
              <a:t> if the model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doesn't beat baseline, serve the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agency ETA unchanged.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