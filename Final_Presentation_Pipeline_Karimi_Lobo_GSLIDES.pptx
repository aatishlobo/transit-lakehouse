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right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~117 words @ 160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Kafka. Four topics, three partitions each, and two of these</a:t>
            </a:r>
          </a:p>
          <a:p>
            <a:r>
              <a:t>settings are worth explaining. Retention is twenty-four hours, and that is</a:t>
            </a:r>
          </a:p>
          <a:p>
            <a:r>
              <a:t>deliberate, because Kafka is transport for us rather than storage, and the</a:t>
            </a:r>
          </a:p>
          <a:p>
            <a:r>
              <a:t>archive Borna just described is what we actually keep. The cleanup policy is</a:t>
            </a:r>
          </a:p>
          <a:p>
            <a:r>
              <a:t>delete and never compact, because compaction keeps only the newest message per</a:t>
            </a:r>
          </a:p>
          <a:p>
            <a:r>
              <a:t>key and discards the rest, but our data is the history. We detect arrivals by watching a vehicle change state across consecutive</a:t>
            </a:r>
          </a:p>
          <a:p>
            <a:r>
              <a:t>observations, so compaction would throw away precisely the thing we read. And the</a:t>
            </a:r>
          </a:p>
          <a:p>
            <a:r>
              <a:t>message key puts every observation of one trip into one partition, in order,</a:t>
            </a:r>
          </a:p>
          <a:p>
            <a:r>
              <a:t>which turns out to be the whole game.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Ending on the key sets up the next slide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~133 words @ 160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and across four consecutive polls you can watch it</a:t>
            </a:r>
          </a:p>
          <a:p>
            <a:r>
              <a:t>approach stop four, then report STOPPED_AT at stop four, and then move on to stop</a:t>
            </a:r>
          </a:p>
          <a:p>
            <a:r>
              <a:t>six. That transition is the arrival, and that sentence exists nowhere in the</a:t>
            </a:r>
          </a:p>
          <a:p>
            <a:r>
              <a:t>source data. We derived it. The subtlety is that it is the first stopped</a:t>
            </a:r>
          </a:p>
          <a:p>
            <a:r>
              <a:t>sighting, not the last, because a parked vehicle keeps reporting STOPPED_AT on</a:t>
            </a:r>
          </a:p>
          <a:p>
            <a:r>
              <a:t>every poll while it waits. So if you took the last one you would be measuring</a:t>
            </a:r>
          </a:p>
          <a:p>
            <a:r>
              <a:t>departure rather than arrival, and nothing would ever tell you that you had it</a:t>
            </a:r>
          </a:p>
          <a:p>
            <a:r>
              <a:t>wrong. Which means the resolver has to remember what it saw before, and that is</a:t>
            </a:r>
          </a:p>
          <a:p>
            <a:r>
              <a:t>exactly 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rubric asks for one concrete example. Trace the four lines with your finger.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Arial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Arial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Arial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Arial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Arial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Arial"/>
              </a:rPr>
              <a:t>arrived</a:t>
            </a:r>
            <a:r>
              <a:rPr sz="2100" b="0">
                <a:solidFill>
                  <a:srgbClr val="1A1F2B"/>
                </a:solidFill>
                <a:latin typeface="Arial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Arial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Arial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Arial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Arial"/>
              </a:rPr>
              <a:t>User:</a:t>
            </a:r>
            <a:r>
              <a:rPr sz="1500" b="0">
                <a:solidFill>
                  <a:srgbClr val="5B667A"/>
                </a:solidFill>
                <a:latin typeface="Arial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Arial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Borna: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Aatish: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511.org</a:t>
            </a:r>
            <a:r>
              <a:rPr sz="1600" b="0">
                <a:solidFill>
                  <a:srgbClr val="1A1F2B"/>
                </a:solidFill>
                <a:latin typeface="Arial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Arial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Arial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500" b="1">
                <a:solidFill>
                  <a:srgbClr val="1A1F2B"/>
                </a:solidFill>
                <a:latin typeface="Arial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Arial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Arial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Arial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"arrival_uncertainty": </a:t>
            </a:r>
            <a:r>
              <a:rPr sz="1100" b="1">
                <a:solidFill>
                  <a:srgbClr val="B45309"/>
                </a:solidFill>
                <a:latin typeface="Courier New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44.2%</a:t>
            </a:r>
            <a:r>
              <a:rPr sz="1400" b="0">
                <a:solidFill>
                  <a:srgbClr val="B45309"/>
                </a:solidFill>
                <a:latin typeface="Arial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14:54:31   </a:t>
            </a:r>
            <a:r>
              <a:rPr sz="1190" b="1">
                <a:solidFill>
                  <a:srgbClr val="B45309"/>
                </a:solidFill>
                <a:latin typeface="Courier New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That sentence exists </a:t>
            </a:r>
            <a:r>
              <a:rPr sz="1400" b="1">
                <a:solidFill>
                  <a:srgbClr val="1A1F2B"/>
                </a:solidFill>
                <a:latin typeface="Arial"/>
              </a:rPr>
              <a:t>nowhere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the source data.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400" b="1">
                <a:solidFill>
                  <a:srgbClr val="1A1F2B"/>
                </a:solidFill>
                <a:latin typeface="Arial"/>
              </a:rPr>
              <a:t>first</a:t>
            </a:r>
            <a:r>
              <a:rPr sz="1400" b="0">
                <a:solidFill>
                  <a:srgbClr val="1A1F2B"/>
                </a:solidFill>
                <a:latin typeface="Arial"/>
              </a:rPr>
              <a:t> stopped sighting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 parked vehicle reports STOPPED_AT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on every poll, so the last one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would measure </a:t>
            </a:r>
            <a:r>
              <a:rPr sz="1400" b="1">
                <a:solidFill>
                  <a:srgbClr val="1A1F2B"/>
                </a:solidFill>
                <a:latin typeface="Arial"/>
              </a:rPr>
              <a:t>departure</a:t>
            </a:r>
            <a:r>
              <a:rPr sz="140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So the resolver holds per-trip state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which is why </a:t>
            </a:r>
            <a:r>
              <a:rPr sz="1400" b="1">
                <a:solidFill>
                  <a:srgbClr val="1A1F2B"/>
                </a:solidFill>
                <a:latin typeface="Arial"/>
              </a:rPr>
              <a:t>ordering</a:t>
            </a:r>
            <a:r>
              <a:rPr sz="1400" b="0">
                <a:solidFill>
                  <a:srgbClr val="1A1F2B"/>
                </a:solidFill>
                <a:latin typeface="Arial"/>
              </a:rPr>
              <a:t>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Arial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Arial"/>
              </a:rPr>
              <a:t>how</a:t>
            </a:r>
            <a:r>
              <a:rPr sz="1400" b="0">
                <a:solidFill>
                  <a:srgbClr val="5B667A"/>
                </a:solidFill>
                <a:latin typeface="Arial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Arial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Arial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Arial"/>
              </a:rPr>
              <a:t>one of </a:t>
            </a:r>
            <a:r>
              <a:rPr sz="1500" b="1">
                <a:solidFill>
                  <a:srgbClr val="5B667A"/>
                </a:solidFill>
                <a:latin typeface="Arial"/>
              </a:rPr>
              <a:t>25,501</a:t>
            </a:r>
            <a:r>
              <a:rPr sz="1500" b="0">
                <a:solidFill>
                  <a:srgbClr val="5B667A"/>
                </a:solidFill>
                <a:latin typeface="Arial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Arial"/>
              </a:rPr>
              <a:t>independent</a:t>
            </a:r>
            <a:r>
              <a:rPr sz="1350" b="0">
                <a:solidFill>
                  <a:srgbClr val="5B667A"/>
                </a:solidFill>
                <a:latin typeface="Arial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Arial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Arial"/>
              </a:rPr>
              <a:t>improved</a:t>
            </a:r>
            <a:r>
              <a:rPr sz="1550" b="0">
                <a:solidFill>
                  <a:srgbClr val="1A1F2B"/>
                </a:solidFill>
                <a:latin typeface="Arial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Arial"/>
              </a:rPr>
              <a:t>only</a:t>
            </a:r>
            <a:r>
              <a:rPr sz="1550" b="0">
                <a:solidFill>
                  <a:srgbClr val="1A1F2B"/>
                </a:solidFill>
                <a:latin typeface="Arial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Arial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Arial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Arial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dwell, so </a:t>
            </a:r>
            <a:r>
              <a:rPr sz="1350" b="1">
                <a:solidFill>
                  <a:srgbClr val="1A1F2B"/>
                </a:solidFill>
                <a:latin typeface="Arial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Arial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939" b="0">
                <a:solidFill>
                  <a:srgbClr val="1A1F2B"/>
                </a:solidFill>
                <a:latin typeface="Courier New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Arial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Arial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Arial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Arial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