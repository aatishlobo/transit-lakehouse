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[10s]  BORNA. 'We measure how late Bay Area transit actually is — by deriving arrival times that no agency publishes.' Move fast, the next slide is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[50s]  BORNA. The core surprise. Two feeds, neither states an arrival. Emphasise the last line: scheduled is exact, so derivation error goes directly into the delay number and nothing downstream can fix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[58s]  BORNA. Rubric slide — one representative record. Point at arrival_uncertainty: null. Say the key is service_date:trip_id because trip IDs repeat daily. Then hand to the next slide as the punchline.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[38s]  BORNA. The single best slide in the deck. A fabricated on-time spike that looks completely plausible. Then: 'Aatish will show how that data becomes an answer.'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[62s]  BORNA. Rubric slide. Trace the path left to right in ONE sentence, then give the WHY: one code path for live and replay, and Kafka is transport not storage. Do not read every box. Then hand over: 'Aatish will show this running on a single vehicle.'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[45s]  AATISH. Rubric asks for one concrete example — this is it. The first-vs-last point is the memorable bit, and it justifies the partition key decision from Borna's contract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[48s]  AATISH. Read one row, not five: 'at twenty minutes out, only 23% land within a minute.' Then the independence point — that is what makes the number mean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[42s]  AATISH. Rubric: one evidence-based lesson. This is the strongest story in the project — we deleted a feature that improved our score. Land the bold line and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[42s]  AATISH. Rubric: one limitation + one next step. Be honest about the upper bound — examiners reward that. The next step is deliberately small and credible: one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[12s]  EITHER. Close on reproducibility, then stop talking. Leave the full minute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[0s]  APPENDIX -- not presented. Use if asked about the AI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200" b="1">
                <a:solidFill>
                  <a:srgbClr val="1A1F2B"/>
                </a:solidFill>
                <a:latin typeface="Calibri"/>
              </a:rPr>
              <a:t>Real-Time Transit Reliability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Deriving arrival times that no agency publishes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and grading the predictions riders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069080"/>
            <a:ext cx="182880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3484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Borna Karimi  ·  Aatish Lobo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MSDS 682 — Data Stream 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67A"/>
                </a:solidFill>
                <a:latin typeface="Calibri"/>
              </a:rPr>
              <a:t>Data provided by 511.org (Metropolitan Transportation Commission)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Agencies never publish when a bus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95747" cy="1417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58568"/>
            <a:ext cx="483854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TripUpdates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predictions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“will reach stop 22 at 15:07”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2057400"/>
            <a:ext cx="5295747" cy="1417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4467" y="2258568"/>
            <a:ext cx="483854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VehiclePositions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GPS pings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“bus 4821 is here, now”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0">
                <a:solidFill>
                  <a:srgbClr val="1A1F2B"/>
                </a:solidFill>
                <a:latin typeface="Calibri"/>
              </a:rPr>
              <a:t>Neither ever says:  “bus 4821 </a:t>
            </a:r>
            <a:r>
              <a:rPr sz="2200" b="1">
                <a:solidFill>
                  <a:srgbClr val="1A1F2B"/>
                </a:solidFill>
                <a:latin typeface="Calibri"/>
              </a:rPr>
              <a:t>arrived</a:t>
            </a:r>
            <a:r>
              <a:rPr sz="2200" b="0">
                <a:solidFill>
                  <a:srgbClr val="1A1F2B"/>
                </a:solidFill>
                <a:latin typeface="Calibri"/>
              </a:rPr>
              <a:t> at stop 22 at 15:09.”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3484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That fact has to be </a:t>
            </a:r>
            <a:r>
              <a:rPr sz="1800" b="1">
                <a:solidFill>
                  <a:srgbClr val="1A1F2B"/>
                </a:solidFill>
                <a:latin typeface="Calibri"/>
              </a:rPr>
              <a:t>derived</a:t>
            </a:r>
            <a:r>
              <a:rPr sz="180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delay = actual − scheduled,  and scheduled is exact 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so </a:t>
            </a:r>
            <a:r>
              <a:rPr sz="1800" b="1">
                <a:solidFill>
                  <a:srgbClr val="1A1F2B"/>
                </a:solidFill>
                <a:latin typeface="Calibri"/>
              </a:rPr>
              <a:t>every error in our derivation lands straight in the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Data source and the Kafka event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Calibri"/>
              </a:rPr>
              <a:t>511.org regional feed · GTFS-Realtime protobuf · 28 operators · 60 req/hour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6583680" cy="32004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61264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"envelope":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"feed_header_ts":  "2026-08-06T21:52:47+00:00",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"ingest_ts":       "2026-08-08T00:10:02+00:00",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"poll_interval_s": 120,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"contract_version":"1.0.0"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"trip":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"trip_id":      "SF:12053041_M11",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"route_id":     "SF:1",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"service_date": "20260806"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"stop_sequence":       47,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"arrival_time_epoch":  1786053176,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"arrival_delay_s":     140,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"arrival_uncertainty": </a:t>
            </a:r>
            <a:r>
              <a:rPr sz="1250" b="1">
                <a:solidFill>
                  <a:srgbClr val="B45309"/>
                </a:solidFill>
                <a:latin typeface="Consolas"/>
              </a:rPr>
              <a:t>null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057400"/>
            <a:ext cx="3962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B6E99"/>
                </a:solidFill>
                <a:latin typeface="Calibri"/>
              </a:rPr>
              <a:t>Key fields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468880"/>
            <a:ext cx="396209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Kafka key:</a:t>
            </a:r>
            <a:r>
              <a:rPr sz="1400" b="0">
                <a:solidFill>
                  <a:srgbClr val="1A1F2B"/>
                </a:solidFill>
                <a:latin typeface="Calibri"/>
              </a:rPr>
              <a:t> `service_date:trip_id`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keeps one trip in one partition,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in order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Grain:</a:t>
            </a:r>
            <a:r>
              <a:rPr sz="1400" b="0">
                <a:solidFill>
                  <a:srgbClr val="1A1F2B"/>
                </a:solidFill>
                <a:latin typeface="Calibri"/>
              </a:rPr>
              <a:t> service_date + trip_id +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stop_sequence — never stop_id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poll_interval_s</a:t>
            </a:r>
            <a:r>
              <a:rPr sz="1400" b="0">
                <a:solidFill>
                  <a:srgbClr val="1A1F2B"/>
                </a:solidFill>
                <a:latin typeface="Calibri"/>
              </a:rPr>
              <a:t> travels per row: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the error bar on every arrival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754880"/>
            <a:ext cx="3962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B45309"/>
                </a:solidFill>
                <a:latin typeface="Calibri"/>
              </a:rPr>
              <a:t>null ≠ 0</a:t>
            </a:r>
            <a:r>
              <a:rPr sz="1500" b="0">
                <a:solidFill>
                  <a:srgbClr val="B45309"/>
                </a:solidFill>
                <a:latin typeface="Calibri"/>
              </a:rPr>
              <a:t> — and that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B45309"/>
                </a:solidFill>
                <a:latin typeface="Calibri"/>
              </a:rPr>
              <a:t>distinction is the whole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Absent is not zero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GTFS-Realtime is proto2: a field can be </a:t>
            </a:r>
            <a:r>
              <a:rPr sz="1800" b="1">
                <a:solidFill>
                  <a:srgbClr val="1A1F2B"/>
                </a:solidFill>
                <a:latin typeface="Calibri"/>
              </a:rPr>
              <a:t>genuinely absent</a:t>
            </a:r>
            <a:r>
              <a:rPr sz="180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`delay = 0` means on time.  Absent means </a:t>
            </a:r>
            <a:r>
              <a:rPr sz="1800" b="1">
                <a:solidFill>
                  <a:srgbClr val="1A1F2B"/>
                </a:solidFill>
                <a:latin typeface="Calibri"/>
              </a:rPr>
              <a:t>no information</a:t>
            </a:r>
            <a:r>
              <a:rPr sz="180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Read the natural way, protobuf returns `0` for </a:t>
            </a:r>
            <a:r>
              <a:rPr sz="1800" b="1">
                <a:solidFill>
                  <a:srgbClr val="1A1F2B"/>
                </a:solidFill>
                <a:latin typeface="Calibri"/>
              </a:rPr>
              <a:t>both</a:t>
            </a:r>
            <a:r>
              <a:rPr sz="1800" b="0">
                <a:solidFill>
                  <a:srgbClr val="1A1F2B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29000"/>
            <a:ext cx="10911535" cy="169164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30168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6000" b="1">
                <a:solidFill>
                  <a:srgbClr val="B45309"/>
                </a:solidFill>
                <a:latin typeface="Calibri"/>
              </a:rPr>
              <a:t>44.2%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703320"/>
            <a:ext cx="66138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of records carry </a:t>
            </a:r>
            <a:r>
              <a:rPr sz="1600" b="1">
                <a:solidFill>
                  <a:srgbClr val="1A1F2B"/>
                </a:solidFill>
                <a:latin typeface="Calibri"/>
              </a:rPr>
              <a:t>no delay value at all</a:t>
            </a:r>
            <a:r>
              <a:rPr sz="1600" b="0">
                <a:solidFill>
                  <a:srgbClr val="1A1F2B"/>
                </a:solidFill>
                <a:latin typeface="Calibri"/>
              </a:rPr>
              <a:t> — 54,638 of 123,735.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19 of 28 operators never populate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Written the obvious way, we'd have reported every one as </a:t>
            </a:r>
            <a:r>
              <a:rPr sz="1600" b="1">
                <a:solidFill>
                  <a:srgbClr val="1A1F2B"/>
                </a:solidFill>
                <a:latin typeface="Calibri"/>
              </a:rPr>
              <a:t>exactly on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Verified against raw protobuf across 408,149 rows — 0 violations.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Implemented end-to-end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691640" cy="77724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511 feed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protobuf, 120s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95728" y="2505456"/>
            <a:ext cx="256032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15768" y="2194560"/>
            <a:ext cx="1691640" cy="77724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poller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archive first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71416" y="2505456"/>
            <a:ext cx="256032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91456" y="2194560"/>
            <a:ext cx="1691640" cy="77724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data/raw/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system of record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47104" y="2505456"/>
            <a:ext cx="256032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67144" y="2194560"/>
            <a:ext cx="1691640" cy="77724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producer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validate → publish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622792" y="2505456"/>
            <a:ext cx="256032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42832" y="2194560"/>
            <a:ext cx="1691640" cy="77724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Kafka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4 topics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3429000"/>
            <a:ext cx="2103120" cy="77724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arrival resolver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STOPPED_AT → arrival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931920" y="3739896"/>
            <a:ext cx="45720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3429000"/>
            <a:ext cx="2103120" cy="77724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aggregator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join predictions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5120" y="3739896"/>
            <a:ext cx="45720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23760" y="3429000"/>
            <a:ext cx="1828800" cy="77724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outputs/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metrics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44000" y="3739896"/>
            <a:ext cx="45720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92639" y="3429000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ML model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corrected 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1A1F2B"/>
                </a:solidFill>
                <a:latin typeface="Calibri"/>
              </a:rPr>
              <a:t>Why this shape:</a:t>
            </a:r>
            <a:r>
              <a:rPr sz="1500" b="0">
                <a:solidFill>
                  <a:srgbClr val="1A1F2B"/>
                </a:solidFill>
                <a:latin typeface="Calibri"/>
              </a:rPr>
              <a:t> the poller only writes to disk; everything downstream only reads from disk.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Live and replay differ </a:t>
            </a:r>
            <a:r>
              <a:rPr sz="1500" b="1">
                <a:solidFill>
                  <a:srgbClr val="1A1F2B"/>
                </a:solidFill>
                <a:latin typeface="Calibri"/>
              </a:rPr>
              <a:t>only</a:t>
            </a:r>
            <a:r>
              <a:rPr sz="1500" b="0">
                <a:solidFill>
                  <a:srgbClr val="1A1F2B"/>
                </a:solidFill>
                <a:latin typeface="Calibri"/>
              </a:rPr>
              <a:t> in whether new files appear — so the grader runs the real pipeline, not a mock.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1A1F2B"/>
                </a:solidFill>
                <a:latin typeface="Calibri"/>
              </a:rPr>
              <a:t>Kafka is transport, not storage.</a:t>
            </a:r>
            <a:r>
              <a:rPr sz="1500" b="0">
                <a:solidFill>
                  <a:srgbClr val="1A1F2B"/>
                </a:solidFill>
                <a:latin typeface="Calibri"/>
              </a:rPr>
              <a:t> 24h retention on purpose: GTFS-RT has no history endpoint, so the archive is the system of record.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One concrete example: deriving a single arrival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6400800" cy="2286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9436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400" b="0">
                <a:solidFill>
                  <a:srgbClr val="1A1F2B"/>
                </a:solidFill>
                <a:latin typeface="Consolas"/>
              </a:rPr>
              <a:t>vehicle 5885, trip SF:12053041_M11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400" b="0">
                <a:solidFill>
                  <a:srgbClr val="1A1F2B"/>
                </a:solidFill>
                <a:latin typeface="Consolas"/>
              </a:rPr>
              <a:t>poll 1   IN_TRANSIT_TO  stop_sequence 46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400" b="0">
                <a:solidFill>
                  <a:srgbClr val="1A1F2B"/>
                </a:solidFill>
                <a:latin typeface="Consolas"/>
              </a:rPr>
              <a:t>poll 2   </a:t>
            </a:r>
            <a:r>
              <a:rPr sz="1400" b="1">
                <a:solidFill>
                  <a:srgbClr val="B45309"/>
                </a:solidFill>
                <a:latin typeface="Consolas"/>
              </a:rPr>
              <a:t>STOPPED_AT     stop_sequence 47</a:t>
            </a:r>
            <a:r>
              <a:rPr sz="1400" b="0">
                <a:solidFill>
                  <a:srgbClr val="1A1F2B"/>
                </a:solidFill>
                <a:latin typeface="Consolas"/>
              </a:rPr>
              <a:t>   ← arrival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400" b="0">
                <a:solidFill>
                  <a:srgbClr val="1A1F2B"/>
                </a:solidFill>
                <a:latin typeface="Consolas"/>
              </a:rPr>
              <a:t>poll 3   STOPPED_AT     stop_sequence 47    (suppressed)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400" b="0">
                <a:solidFill>
                  <a:srgbClr val="1A1F2B"/>
                </a:solidFill>
                <a:latin typeface="Consolas"/>
              </a:rPr>
              <a:t>poll 4   IN_TRANSIT_TO  stop_sequence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011680"/>
            <a:ext cx="414497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The arrival is the </a:t>
            </a:r>
            <a:r>
              <a:rPr sz="1500" b="1">
                <a:solidFill>
                  <a:srgbClr val="1A1F2B"/>
                </a:solidFill>
                <a:latin typeface="Calibri"/>
              </a:rPr>
              <a:t>first</a:t>
            </a:r>
            <a:r>
              <a:rPr sz="1500" b="0">
                <a:solidFill>
                  <a:srgbClr val="1A1F2B"/>
                </a:solidFill>
                <a:latin typeface="Calibri"/>
              </a:rPr>
              <a:t> sighting,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not the last.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A parked bus reports STOPPED_AT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on every poll — the last one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would measure </a:t>
            </a:r>
            <a:r>
              <a:rPr sz="1500" b="1">
                <a:solidFill>
                  <a:srgbClr val="1A1F2B"/>
                </a:solidFill>
                <a:latin typeface="Calibri"/>
              </a:rPr>
              <a:t>departure</a:t>
            </a:r>
            <a:r>
              <a:rPr sz="150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So the resolver holds per-trip state,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which is </a:t>
            </a:r>
            <a:r>
              <a:rPr sz="1500" b="1">
                <a:solidFill>
                  <a:srgbClr val="1A1F2B"/>
                </a:solidFill>
                <a:latin typeface="Calibri"/>
              </a:rPr>
              <a:t>why the Kafka key matters</a:t>
            </a:r>
            <a:r>
              <a:rPr sz="1500" b="0">
                <a:solidFill>
                  <a:srgbClr val="1A1F2B"/>
                </a:solidFill>
                <a:latin typeface="Calibri"/>
              </a:rPr>
              <a:t>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all observations of one trip must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arrive in order, in one partition.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Every arrival is stamped with </a:t>
            </a:r>
            <a:r>
              <a:rPr sz="1500" b="1">
                <a:solidFill>
                  <a:srgbClr val="1A1F2B"/>
                </a:solidFill>
                <a:latin typeface="Calibri"/>
              </a:rPr>
              <a:t>how</a:t>
            </a:r>
            <a:r>
              <a:rPr sz="1500" b="0">
                <a:solidFill>
                  <a:srgbClr val="1A1F2B"/>
                </a:solidFill>
                <a:latin typeface="Calibri"/>
              </a:rPr>
              <a:t> it was derived — method, confidence, poll_interval_s.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Resolver availability varies by operator (15 of 28), so without provenance </a:t>
            </a:r>
            <a:r>
              <a:rPr sz="1500" b="1">
                <a:solidFill>
                  <a:srgbClr val="1A1F2B"/>
                </a:solidFill>
                <a:latin typeface="Calibri"/>
              </a:rPr>
              <a:t>“agency” silently becomes a proxy for data quality.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Result: how wrong are Muni's predictions?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Calibri"/>
              </a:rPr>
              <a:t>SF Muni · 25,501 prediction–arrival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76856"/>
            <a:ext cx="768096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lead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6596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96596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965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median |err|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9659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within 60s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5000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0–2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35000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509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5000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−11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35000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13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5000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92.7%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1576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2–5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71576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4,603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71576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−46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71576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50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71576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59.5%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08152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5–10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30815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4,897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308152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−66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081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70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308152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43.3%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44728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10–20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44728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8,919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44728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−98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44728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102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4472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31.1%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81304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20+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381304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6,573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81304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B45309"/>
                </a:solidFill>
                <a:latin typeface="Calibri"/>
              </a:rPr>
              <a:t>−142 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81304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146 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81304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23.0%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361688"/>
            <a:ext cx="1091153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Negative bias = the agency predicts EARLIER than reality.</a:t>
            </a:r>
            <a:r>
              <a:rPr sz="1600" b="0">
                <a:solidFill>
                  <a:srgbClr val="1A1F2B"/>
                </a:solidFill>
                <a:latin typeface="Calibri"/>
              </a:rPr>
              <a:t> Buses arrive later than promised,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and it worsens with horizon. Short-horizon ETAs are excellent; 20-minute ETAs are not.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2148840"/>
            <a:ext cx="29260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Credible because the two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halves are </a:t>
            </a:r>
            <a:r>
              <a:rPr sz="1400" b="1">
                <a:solidFill>
                  <a:srgbClr val="5B667A"/>
                </a:solidFill>
                <a:latin typeface="Calibri"/>
              </a:rPr>
              <a:t>independent</a:t>
            </a:r>
            <a:r>
              <a:rPr sz="1400" b="0">
                <a:solidFill>
                  <a:srgbClr val="5B667A"/>
                </a:solidFill>
                <a:latin typeface="Calibri"/>
              </a:rPr>
              <a:t>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prediction ← TripUpdates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actual ← VehiclePositions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Deriving arrivals from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predictions would measure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the agency </a:t>
            </a:r>
            <a:r>
              <a:rPr sz="1400" b="1">
                <a:solidFill>
                  <a:srgbClr val="5B667A"/>
                </a:solidFill>
                <a:latin typeface="Calibri"/>
              </a:rPr>
              <a:t>against itself.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Lesson learned: the wrong answer looked better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911535" cy="150876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67128"/>
            <a:ext cx="1027145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Day-of-week </a:t>
            </a:r>
            <a:r>
              <a:rPr sz="1600" b="1">
                <a:solidFill>
                  <a:srgbClr val="1A1F2B"/>
                </a:solidFill>
                <a:latin typeface="Calibri"/>
              </a:rPr>
              <a:t>improved</a:t>
            </a:r>
            <a:r>
              <a:rPr sz="1600" b="0">
                <a:solidFill>
                  <a:srgbClr val="1A1F2B"/>
                </a:solidFill>
                <a:latin typeface="Calibri"/>
              </a:rPr>
              <a:t> test MAE by 10 seconds. We removed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Monday appeared </a:t>
            </a:r>
            <a:r>
              <a:rPr sz="1600" b="1">
                <a:solidFill>
                  <a:srgbClr val="1A1F2B"/>
                </a:solidFill>
                <a:latin typeface="Calibri"/>
              </a:rPr>
              <a:t>only</a:t>
            </a:r>
            <a:r>
              <a:rPr sz="1600" b="0">
                <a:solidFill>
                  <a:srgbClr val="1A1F2B"/>
                </a:solidFill>
                <a:latin typeface="Calibri"/>
              </a:rPr>
              <a:t> in the test window — 31% of test rows had a value the model had never seen, silently inheriting another day's correction through bin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B45309"/>
                </a:solidFill>
                <a:latin typeface="Calibri"/>
              </a:rPr>
              <a:t>A number you can't account for is not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91153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Same pattern across every real bug we hit: a mislabelled partition column, a duplicate replay that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doubled n while leaving every average identical, an API key leaked through an exception message.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1A1F2B"/>
                </a:solidFill>
                <a:latin typeface="Calibri"/>
              </a:rPr>
              <a:t>None crashed. Several produced better-looking numbers.</a:t>
            </a:r>
            <a:r>
              <a:rPr sz="1500" b="0">
                <a:solidFill>
                  <a:srgbClr val="1A1F2B"/>
                </a:solidFill>
                <a:latin typeface="Calibri"/>
              </a:rPr>
              <a:t> Reading the code would have caught none of them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measuring against real data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Limitation, and the next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72887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242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B6E99"/>
                </a:solidFill>
                <a:latin typeface="Calibri"/>
              </a:rPr>
              <a:t>Limitation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724247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We capture only </a:t>
            </a:r>
            <a:r>
              <a:rPr sz="1400" b="1">
                <a:solidFill>
                  <a:srgbClr val="1A1F2B"/>
                </a:solidFill>
                <a:latin typeface="Calibri"/>
              </a:rPr>
              <a:t>~21% of stop events.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Buses dwell for seconds; we sample every 120s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(a 60 req/hour quota).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Worse, it isn't random: capture probability scales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with dwell time, so </a:t>
            </a:r>
            <a:r>
              <a:rPr sz="1400" b="1">
                <a:solidFill>
                  <a:srgbClr val="1A1F2B"/>
                </a:solidFill>
                <a:latin typeface="Calibri"/>
              </a:rPr>
              <a:t>terminals and layovers are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over-represented</a:t>
            </a:r>
            <a:r>
              <a:rPr sz="1400" b="1">
                <a:solidFill>
                  <a:srgbClr val="1A1F2B"/>
                </a:solidFill>
                <a:latin typeface="Calibri"/>
              </a:rPr>
              <a:t>, and derived arrivals are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biased late.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So our headline bias is an upper bound,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not a point estimate.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965960"/>
            <a:ext cx="5272887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194560"/>
            <a:ext cx="47242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B6E99"/>
                </a:solidFill>
                <a:latin typeface="Calibri"/>
              </a:rPr>
              <a:t>Next step — realistic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651760"/>
            <a:ext cx="4724247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Request a rate-limit increase from 511.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One email. It attacks all three problems at once: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more stop events captured, tighter timestamps,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and less selection bias toward long dwells.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Then: GTFS-Static for true on-time performance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against the published schedule, and a geofence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resolver for the 13 operators where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STOPPED_AT never fires.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A1F2B"/>
                </a:solidFill>
                <a:latin typeface="Calibri"/>
              </a:rPr>
              <a:t>One command, no API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34640"/>
            <a:ext cx="5669280" cy="9144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09067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2200" b="0">
                <a:solidFill>
                  <a:srgbClr val="1A1F2B"/>
                </a:solidFill>
                <a:latin typeface="Consolas"/>
              </a:rPr>
              <a:t>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8803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Kafka → replay → arrivals → metrics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→ 6 acceptance checks, in </a:t>
            </a:r>
            <a:r>
              <a:rPr sz="1600" b="1">
                <a:solidFill>
                  <a:srgbClr val="5B667A"/>
                </a:solidFill>
                <a:latin typeface="Calibri"/>
              </a:rPr>
              <a:t>1 min 59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51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83 tests  ·  6/6 acceptance checks  ·  1.67 M records replayed, 0 dead-lettered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Verified from a clean extract of the submitted 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0B6E99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Appendix: bounded AI element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appendix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Predict the residual  (actual − predicted),  apply it as a correction. Predicting 0 = trusting the agency.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98648"/>
            <a:ext cx="658368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931920" y="260604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60604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beats agency?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900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trust the agency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99008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195.2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99008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add global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3375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215.1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37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8503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add mean per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68503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206.7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368503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32504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A1F2B"/>
                </a:solidFill>
                <a:latin typeface="Calibri"/>
              </a:rPr>
              <a:t>gradient boosting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032504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A1F2B"/>
                </a:solidFill>
                <a:latin typeface="Calibri"/>
              </a:rPr>
              <a:t>166.6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032504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B45309"/>
                </a:solidFill>
                <a:latin typeface="Calibri"/>
              </a:rPr>
              <a:t>−14.7%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514600"/>
            <a:ext cx="3779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Both naive corrections make it worse.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Residuals are right-skewed, so adding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the mean overcorrects the typical case.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Leakage guard:</a:t>
            </a:r>
            <a:r>
              <a:rPr sz="1400" b="0">
                <a:solidFill>
                  <a:srgbClr val="1A1F2B"/>
                </a:solidFill>
                <a:latin typeface="Calibri"/>
              </a:rPr>
              <a:t> labels come from GPS,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features from predictions — different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feeds, so the label can't contain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the feature.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84632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Fallback enforced in code: if the model doesn't beat its baseline, serve the agency's ETA unchanged.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