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[10s  |  BORNA  |  ~21 words @ 126 wpm]</a:t>
            </a:r>
          </a:p>
          <a:p>
            <a:r>
              <a:t>==============================================================</a:t>
            </a:r>
          </a:p>
          <a:p/>
          <a:p>
            <a:r>
              <a:t>We measure how late Bay Area transit actually is. The catch: no agency</a:t>
            </a:r>
          </a:p>
          <a:p>
            <a:r>
              <a:t>publishes that number. We had to derive it.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Do not linger. The hook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[50s  |  BORNA  |  ~119 words @ 143 wpm]</a:t>
            </a:r>
          </a:p>
          <a:p>
            <a:r>
              <a:t>==============================================================</a:t>
            </a:r>
          </a:p>
          <a:p/>
          <a:p>
            <a:r>
              <a:t>Transit agencies publish two live feeds. TripUpdates is predictions -- the</a:t>
            </a:r>
          </a:p>
          <a:p>
            <a:r>
              <a:t>agency telling us a bus will reach stop 22 at 15:07. VehiclePositions is GPS --</a:t>
            </a:r>
          </a:p>
          <a:p>
            <a:r>
              <a:t>bus 4821 is at this coordinate, right now.</a:t>
            </a:r>
          </a:p>
          <a:p/>
          <a:p>
            <a:r>
              <a:t>Notice what is missing. Neither feed ever says the bus ARRIVED. That fact is not</a:t>
            </a:r>
          </a:p>
          <a:p>
            <a:r>
              <a:t>published by anyone. It has to be derived from indirect evidence.</a:t>
            </a:r>
          </a:p>
          <a:p/>
          <a:p>
            <a:r>
              <a:t>Here is why that is the whole problem. Delay equals actual minus scheduled. The</a:t>
            </a:r>
          </a:p>
          <a:p>
            <a:r>
              <a:t>scheduled time is published and exact -- there is no error in it. So every bit of</a:t>
            </a:r>
          </a:p>
          <a:p>
            <a:r>
              <a:t>error in our derived actual transfers one-for-one into the delay figure. And</a:t>
            </a:r>
          </a:p>
          <a:p>
            <a:r>
              <a:t>nothing downstream can detect or correct it, because there is no ground truth to</a:t>
            </a:r>
          </a:p>
          <a:p>
            <a:r>
              <a:t>check against.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Slow down on the last sentence. It justifies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[58s  |  BORNA  |  ~148 words @ 153 wpm]</a:t>
            </a:r>
          </a:p>
          <a:p>
            <a:r>
              <a:t>==============================================================</a:t>
            </a:r>
          </a:p>
          <a:p/>
          <a:p>
            <a:r>
              <a:t>Our source is 511.org, run by the Metropolitan Transportation Commission. One</a:t>
            </a:r>
          </a:p>
          <a:p>
            <a:r>
              <a:t>consolidated feed covers all 28 Bay Area operators, which matters because our</a:t>
            </a:r>
          </a:p>
          <a:p>
            <a:r>
              <a:t>quota is 60 requests an hour -- so we can only afford one poll every two minutes.</a:t>
            </a:r>
          </a:p>
          <a:p/>
          <a:p>
            <a:r>
              <a:t>On the left is one real event as it enters Kafka: a single stop on a single trip.</a:t>
            </a:r>
          </a:p>
          <a:p/>
          <a:p>
            <a:r>
              <a:t>Three things to notice. The Kafka key is service_date plus trip_id. We include</a:t>
            </a:r>
          </a:p>
          <a:p>
            <a:r>
              <a:t>the date because trip IDs repeat every single day. And we key on the trip so that</a:t>
            </a:r>
          </a:p>
          <a:p>
            <a:r>
              <a:t>every observation of one trip lands in the same partition, in order -- that</a:t>
            </a:r>
          </a:p>
          <a:p>
            <a:r>
              <a:t>ordering turns out to be load-bearing, and Aatish will show you why.</a:t>
            </a:r>
          </a:p>
          <a:p/>
          <a:p>
            <a:r>
              <a:t>The grain is service date, trip, and stop SEQUENCE -- never stop ID, because seven</a:t>
            </a:r>
          </a:p>
          <a:p>
            <a:r>
              <a:t>operators run loops that visit the same stop twice in one trip.</a:t>
            </a:r>
          </a:p>
          <a:p/>
          <a:p>
            <a:r>
              <a:t>And arrival_uncertainty is null. Not zero. Null.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Point at the null on the last line and pause -- it sets up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[38s  |  BORNA  |  ~103 words @ 163 wpm]</a:t>
            </a:r>
          </a:p>
          <a:p>
            <a:r>
              <a:t>==============================================================</a:t>
            </a:r>
          </a:p>
          <a:p/>
          <a:p>
            <a:r>
              <a:t>GTFS-Realtime uses protobuf version 2, where a field can be genuinely absent --</a:t>
            </a:r>
          </a:p>
          <a:p>
            <a:r>
              <a:t>and absent is different from zero. A delay of zero means the bus is exactly on</a:t>
            </a:r>
          </a:p>
          <a:p>
            <a:r>
              <a:t>time. Absent means the agency told us nothing at all.</a:t>
            </a:r>
          </a:p>
          <a:p/>
          <a:p>
            <a:r>
              <a:t>The trap is that the obvious way to read that field returns zero for both.</a:t>
            </a:r>
          </a:p>
          <a:p/>
          <a:p>
            <a:r>
              <a:t>We measured it. Forty-four percent of records carry no delay at all; nineteen of</a:t>
            </a:r>
          </a:p>
          <a:p>
            <a:r>
              <a:t>28 operators never populate it. Written the natural way, we would have reported</a:t>
            </a:r>
          </a:p>
          <a:p>
            <a:r>
              <a:t>all fifty-four thousand as perfectly on time -- a fabricated on-time spike that</a:t>
            </a:r>
          </a:p>
          <a:p>
            <a:r>
              <a:t>looks entirely plausible and corrupts every number above it.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This is the strongest slide in the first half. Pause after 'perfectly on time'.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[62s  |  BORNA  |  ~160 words @ 155 wpm]</a:t>
            </a:r>
          </a:p>
          <a:p>
            <a:r>
              <a:t>==============================================================</a:t>
            </a:r>
          </a:p>
          <a:p/>
          <a:p>
            <a:r>
              <a:t>Here is the implemented path. The poller pulls protobuf every two minutes and</a:t>
            </a:r>
          </a:p>
          <a:p>
            <a:r>
              <a:t>writes the raw bytes to disk BEFORE attempting to decode them. A producer then</a:t>
            </a:r>
          </a:p>
          <a:p>
            <a:r>
              <a:t>reads from disk, validates every record against our contract, and publishes to</a:t>
            </a:r>
          </a:p>
          <a:p>
            <a:r>
              <a:t>Kafka. A resolver derives arrivals, an aggregator joins them back against the</a:t>
            </a:r>
          </a:p>
          <a:p>
            <a:r>
              <a:t>predictions, and that produces our metrics.</a:t>
            </a:r>
          </a:p>
          <a:p/>
          <a:p>
            <a:r>
              <a:t>Two design choices worth explaining.</a:t>
            </a:r>
          </a:p>
          <a:p/>
          <a:p>
            <a:r>
              <a:t>First: the poller only ever writes to disk, and everything downstream only ever</a:t>
            </a:r>
          </a:p>
          <a:p>
            <a:r>
              <a:t>reads from disk. So live operation and replay are literally the same code path --</a:t>
            </a:r>
          </a:p>
          <a:p>
            <a:r>
              <a:t>they differ only in whether new files keep appearing. When you run our demo you</a:t>
            </a:r>
          </a:p>
          <a:p>
            <a:r>
              <a:t>are running the real pipeline, not a mock of it.</a:t>
            </a:r>
          </a:p>
          <a:p/>
          <a:p>
            <a:r>
              <a:t>Second: Kafka is transport, not storage. Our topics expire after 24 hours on</a:t>
            </a:r>
          </a:p>
          <a:p>
            <a:r>
              <a:t>purpose. GTFS-Realtime has no history endpoint, so anything we fail to archive is</a:t>
            </a:r>
          </a:p>
          <a:p>
            <a:r>
              <a:t>gone permanently. The disk archive is the system of record.</a:t>
            </a:r>
          </a:p>
          <a:p/>
          <a:p>
            <a:r>
              <a:t>Aatish will now show this running on one vehicle.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Trace the diagram left to right once. Do not read every box. Clear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  |  AATISH  |  ~122 words @ 163 wpm]</a:t>
            </a:r>
          </a:p>
          <a:p>
            <a:r>
              <a:t>==============================================================</a:t>
            </a:r>
          </a:p>
          <a:p/>
          <a:p>
            <a:r>
              <a:t>This is one real vehicle -- bus 5885, on a Muni trip. Across four consecutive</a:t>
            </a:r>
          </a:p>
          <a:p>
            <a:r>
              <a:t>polls you can watch it approach stop 46, report STOPPED_AT stop 47, still be</a:t>
            </a:r>
          </a:p>
          <a:p>
            <a:r>
              <a:t>stopped there, and then move on.</a:t>
            </a:r>
          </a:p>
          <a:p/>
          <a:p>
            <a:r>
              <a:t>The arrival is the FIRST stopped sighting. A parked bus reports that status on</a:t>
            </a:r>
          </a:p>
          <a:p>
            <a:r>
              <a:t>every poll while it waits, so if you took the last one you would be measuring</a:t>
            </a:r>
          </a:p>
          <a:p>
            <a:r>
              <a:t>departure, not arrival -- and nothing would ever tell you.</a:t>
            </a:r>
          </a:p>
          <a:p/>
          <a:p>
            <a:r>
              <a:t>Which means the resolver has to remember what it saw before. It holds per-trip</a:t>
            </a:r>
          </a:p>
          <a:p>
            <a:r>
              <a:t>state. And that is exactly why the partition key Borna described matters: if</a:t>
            </a:r>
          </a:p>
          <a:p>
            <a:r>
              <a:t>those four observations arrived out of order, we would record the arrival at the</a:t>
            </a:r>
          </a:p>
          <a:p>
            <a:r>
              <a:t>wrong moment, or miss it entirely.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This closes the loop on the key decision from slide 3. Make that link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[48s  |  AATISH  |  ~127 words @ 159 wpm]</a:t>
            </a:r>
          </a:p>
          <a:p>
            <a:r>
              <a:t>==============================================================</a:t>
            </a:r>
          </a:p>
          <a:p/>
          <a:p>
            <a:r>
              <a:t>Here is the answer. Under two minutes out, Muni's predictions are excellent --</a:t>
            </a:r>
          </a:p>
          <a:p>
            <a:r>
              <a:t>median error thirteen seconds, ninety-three percent within a minute. But accuracy</a:t>
            </a:r>
          </a:p>
          <a:p>
            <a:r>
              <a:t>falls off steadily with horizon. At twenty minutes out, only twenty-three percent</a:t>
            </a:r>
          </a:p>
          <a:p>
            <a:r>
              <a:t>land within a minute.</a:t>
            </a:r>
          </a:p>
          <a:p/>
          <a:p>
            <a:r>
              <a:t>The bias column is the one that matters. It is negative at every horizon and it</a:t>
            </a:r>
          </a:p>
          <a:p>
            <a:r>
              <a:t>grows. Negative means the agency predicts EARLIER than we observe -- buses arrive</a:t>
            </a:r>
          </a:p>
          <a:p>
            <a:r>
              <a:t>later than promised.</a:t>
            </a:r>
          </a:p>
          <a:p/>
          <a:p>
            <a:r>
              <a:t>This number only means something because the two halves are independent. The</a:t>
            </a:r>
          </a:p>
          <a:p>
            <a:r>
              <a:t>prediction comes from TripUpdates; the actual comes from GPS positions. Had we</a:t>
            </a:r>
          </a:p>
          <a:p>
            <a:r>
              <a:t>derived arrivals from the predictions themselves -- which is a documented,</a:t>
            </a:r>
          </a:p>
          <a:p>
            <a:r>
              <a:t>tempting technique -- we would be measuring the agency against itself and getting</a:t>
            </a:r>
          </a:p>
          <a:p>
            <a:r>
              <a:t>a beautiful number that means absolutely nothing.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Read ONE row aloud, not five. The independence point is the real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[42s  |  AATISH  |  ~111 words @ 159 wpm]</a:t>
            </a:r>
          </a:p>
          <a:p>
            <a:r>
              <a:t>==============================================================</a:t>
            </a:r>
          </a:p>
          <a:p/>
          <a:p>
            <a:r>
              <a:t>Our best lesson came from a feature we deleted.</a:t>
            </a:r>
          </a:p>
          <a:p/>
          <a:p>
            <a:r>
              <a:t>Day-of-week improved our test error by ten seconds. We removed it anyway --</a:t>
            </a:r>
          </a:p>
          <a:p>
            <a:r>
              <a:t>because Monday appeared only in our test window. Thirty-one percent of test rows</a:t>
            </a:r>
          </a:p>
          <a:p>
            <a:r>
              <a:t>carried a value the model had never seen in training, so they silently fell into</a:t>
            </a:r>
          </a:p>
          <a:p>
            <a:r>
              <a:t>an adjacent day's correction, purely through where the bin boundaries happened to</a:t>
            </a:r>
          </a:p>
          <a:p>
            <a:r>
              <a:t>land. The gain was an artifact of binning, not learned structure.</a:t>
            </a:r>
          </a:p>
          <a:p/>
          <a:p>
            <a:r>
              <a:t>Every real bug we hit had that same shape. A mislabelled partition column. A</a:t>
            </a:r>
          </a:p>
          <a:p>
            <a:r>
              <a:t>duplicate replay that doubled our sample size while leaving every average</a:t>
            </a:r>
          </a:p>
          <a:p>
            <a:r>
              <a:t>identical. None of them crashed. Several produced better-looking numbers than the</a:t>
            </a:r>
          </a:p>
          <a:p>
            <a:r>
              <a:t>correct version.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Pause after 'we removed it anyway'. Let the oddity register before explaining.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[42s  |  AATISH  |  ~113 words @ 161 wpm]</a:t>
            </a:r>
          </a:p>
          <a:p>
            <a:r>
              <a:t>==============================================================</a:t>
            </a:r>
          </a:p>
          <a:p/>
          <a:p>
            <a:r>
              <a:t>Our main limitation is coverage. We capture only about twenty-one percent of</a:t>
            </a:r>
          </a:p>
          <a:p>
            <a:r>
              <a:t>stop events, because buses dwell at a stop for seconds while we sample every two</a:t>
            </a:r>
          </a:p>
          <a:p>
            <a:r>
              <a:t>minutes.</a:t>
            </a:r>
          </a:p>
          <a:p/>
          <a:p>
            <a:r>
              <a:t>And it is not random. The chance of catching a stop scales with how long the bus</a:t>
            </a:r>
          </a:p>
          <a:p>
            <a:r>
              <a:t>sits there -- so terminals and layovers are over-represented, and our derived</a:t>
            </a:r>
          </a:p>
          <a:p>
            <a:r>
              <a:t>arrivals are systematically biased late. Which means the optimism we measured is</a:t>
            </a:r>
          </a:p>
          <a:p>
            <a:r>
              <a:t>an upper bound, not a point estimate.</a:t>
            </a:r>
          </a:p>
          <a:p/>
          <a:p>
            <a:r>
              <a:t>So the next step is deliberately small: email 511 and request a rate limit</a:t>
            </a:r>
          </a:p>
          <a:p>
            <a:r>
              <a:t>increase. That one change attacks all three problems at once -- more events</a:t>
            </a:r>
          </a:p>
          <a:p>
            <a:r>
              <a:t>captured, tighter timestamps, and less selection bias toward long dwells.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Being honest about the upper bound is worth marks. Do not soften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[12s  |  EITHER  |  ~33 words @ 165 wpm]</a:t>
            </a:r>
          </a:p>
          <a:p>
            <a:r>
              <a:t>==============================================================</a:t>
            </a:r>
          </a:p>
          <a:p/>
          <a:p>
            <a:r>
              <a:t>Everything you have seen runs from one command, with no API key, in under two</a:t>
            </a:r>
          </a:p>
          <a:p>
            <a:r>
              <a:t>minutes -- eighty-three tests and six acceptance checks, verified from a clean</a:t>
            </a:r>
          </a:p>
          <a:p>
            <a:r>
              <a:t>extract of the submitted zip. Questions?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Stop talking. Leave the full minute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[0s  |  APPENDIX  |  ~143 words @ 0 wpm]</a:t>
            </a:r>
          </a:p>
          <a:p>
            <a:r>
              <a:t>==============================================================</a:t>
            </a:r>
          </a:p>
          <a:p/>
          <a:p>
            <a:r>
              <a:t>Not presented. Backup for Q&amp;A on the AI element.</a:t>
            </a:r>
          </a:p>
          <a:p/>
          <a:p>
            <a:r>
              <a:t>We predict the residual -- actual arrival minus predicted arrival -- and apply it</a:t>
            </a:r>
          </a:p>
          <a:p>
            <a:r>
              <a:t>as a correction on top of the agency's ETA. Predicting zero is identical to</a:t>
            </a:r>
          </a:p>
          <a:p>
            <a:r>
              <a:t>trusting the agency, so the baseline comparison is exact.</a:t>
            </a:r>
          </a:p>
          <a:p/>
          <a:p>
            <a:r>
              <a:t>The interesting result is that both naive bias corrections are WORSE than doing</a:t>
            </a:r>
          </a:p>
          <a:p>
            <a:r>
              <a:t>nothing. Residuals are heavily right-skewed -- mean plus 213 seconds, median plus</a:t>
            </a:r>
          </a:p>
          <a:p>
            <a:r>
              <a:t>111 -- so adding the mean overcorrects the typical case. The model earns its</a:t>
            </a:r>
          </a:p>
          <a:p>
            <a:r>
              <a:t>fourteen-point-seven percent by learning a horizon, hour and route dependent</a:t>
            </a:r>
          </a:p>
          <a:p>
            <a:r>
              <a:t>correction instead of a constant.</a:t>
            </a:r>
          </a:p>
          <a:p/>
          <a:p>
            <a:r>
              <a:t>On leakage: labels come from GPS positions, features from predictions. Different</a:t>
            </a:r>
          </a:p>
          <a:p>
            <a:r>
              <a:t>feeds, so the label cannot contain the feature. We also excluded lead-time as a</a:t>
            </a:r>
          </a:p>
          <a:p>
            <a:r>
              <a:t>feature because it contains the target, and we split the data strictly forward in</a:t>
            </a:r>
          </a:p>
          <a:p>
            <a:r>
              <a:t>time rather than randomly.</a:t>
            </a:r>
          </a:p>
          <a:p/>
          <a:p>
            <a:r>
              <a:t>--------------------------------------------------------------</a:t>
            </a:r>
          </a:p>
          <a:p>
            <a:r>
              <a:t>DELIVERY: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200" b="1">
                <a:solidFill>
                  <a:srgbClr val="1A1F2B"/>
                </a:solidFill>
                <a:latin typeface="Calibri"/>
              </a:rPr>
              <a:t>Real-Time Transit Reliability Lakehouse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5B667A"/>
                </a:solidFill>
                <a:latin typeface="Calibri"/>
              </a:rPr>
              <a:t>Deriving arrival times that no agency publishes 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5B667A"/>
                </a:solidFill>
                <a:latin typeface="Calibri"/>
              </a:rPr>
              <a:t>and grading the predictions riders actually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069080"/>
            <a:ext cx="182880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F2B"/>
                </a:solidFill>
                <a:latin typeface="Calibri"/>
              </a:rPr>
              <a:t>Borna Karimi  ·  Aatish Lobo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1A1F2B"/>
                </a:solidFill>
                <a:latin typeface="Calibri"/>
              </a:rPr>
              <a:t>MSDS 682 — Data Stream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67A"/>
                </a:solidFill>
                <a:latin typeface="Calibri"/>
              </a:rPr>
              <a:t>Data provided by 511.org (Metropolitan Transportation Commission)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Agencies never publish when a bus arrives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Borna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95747" cy="14173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58568"/>
            <a:ext cx="483854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TripUpdates — </a:t>
            </a:r>
            <a:r>
              <a:rPr sz="1600" b="1">
                <a:solidFill>
                  <a:srgbClr val="1A1F2B"/>
                </a:solidFill>
                <a:latin typeface="Calibri"/>
              </a:rPr>
              <a:t>predictions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“will reach stop 22 at 15:07”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2057400"/>
            <a:ext cx="5295747" cy="14173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4467" y="2258568"/>
            <a:ext cx="483854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VehiclePositions — </a:t>
            </a:r>
            <a:r>
              <a:rPr sz="1600" b="1">
                <a:solidFill>
                  <a:srgbClr val="1A1F2B"/>
                </a:solidFill>
                <a:latin typeface="Calibri"/>
              </a:rPr>
              <a:t>GPS pings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“bus 4821 is here, now”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1A1F2B"/>
                </a:solidFill>
                <a:latin typeface="Calibri"/>
              </a:rPr>
              <a:t>Neither ever says:  “bus 4821 </a:t>
            </a:r>
            <a:r>
              <a:rPr sz="2200" b="1">
                <a:solidFill>
                  <a:srgbClr val="1A1F2B"/>
                </a:solidFill>
                <a:latin typeface="Calibri"/>
              </a:rPr>
              <a:t>arrived</a:t>
            </a:r>
            <a:r>
              <a:rPr sz="2200" b="0">
                <a:solidFill>
                  <a:srgbClr val="1A1F2B"/>
                </a:solidFill>
                <a:latin typeface="Calibri"/>
              </a:rPr>
              <a:t> at stop 22 at 15:09.”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Calibri"/>
              </a:rPr>
              <a:t>That fact has to be </a:t>
            </a:r>
            <a:r>
              <a:rPr sz="1800" b="1">
                <a:solidFill>
                  <a:srgbClr val="1A1F2B"/>
                </a:solidFill>
                <a:latin typeface="Calibri"/>
              </a:rPr>
              <a:t>derived</a:t>
            </a:r>
            <a:r>
              <a:rPr sz="1800" b="0">
                <a:solidFill>
                  <a:srgbClr val="1A1F2B"/>
                </a:solidFill>
                <a:latin typeface="Calibri"/>
              </a:rPr>
              <a:t>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Calibri"/>
              </a:rPr>
              <a:t>delay = actual − scheduled,  and scheduled is exact —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Calibri"/>
              </a:rPr>
              <a:t>so </a:t>
            </a:r>
            <a:r>
              <a:rPr sz="1800" b="1">
                <a:solidFill>
                  <a:srgbClr val="1A1F2B"/>
                </a:solidFill>
                <a:latin typeface="Calibri"/>
              </a:rPr>
              <a:t>every error in our derivation lands straight in the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Data source and the Kafka event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5B667A"/>
                </a:solidFill>
                <a:latin typeface="Calibri"/>
              </a:rPr>
              <a:t>511.org regional feed · GTFS-Realtime protobuf · 28 operators · 60 req/hour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Borna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6583680" cy="32004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6126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"envelope":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"feed_header_ts":  "2026-08-06T21:52:47+00:00",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"ingest_ts":       "2026-08-08T00:10:02+00:00",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"poll_interval_s": 120,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"contract_version":"1.0.0"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},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"trip":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"trip_id":      "SF:12053041_M11",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"route_id":     "SF:1",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  "service_date": "20260806"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},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"stop_sequence":       47,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"arrival_time_epoch":  1786053176,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"arrival_delay_s":     140,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  "arrival_uncertainty": </a:t>
            </a:r>
            <a:r>
              <a:rPr sz="1250" b="1">
                <a:solidFill>
                  <a:srgbClr val="B45309"/>
                </a:solidFill>
                <a:latin typeface="Consolas"/>
              </a:rPr>
              <a:t>null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50" b="0">
                <a:solidFill>
                  <a:srgbClr val="1A1F2B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57400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6E99"/>
                </a:solidFill>
                <a:latin typeface="Calibri"/>
              </a:rPr>
              <a:t>Key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468880"/>
            <a:ext cx="396209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Kafka key:</a:t>
            </a:r>
            <a:r>
              <a:rPr sz="1400" b="0">
                <a:solidFill>
                  <a:srgbClr val="1A1F2B"/>
                </a:solidFill>
                <a:latin typeface="Calibri"/>
              </a:rPr>
              <a:t> `service_date:trip_id`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keeps one trip in one partition,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in order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Grain:</a:t>
            </a:r>
            <a:r>
              <a:rPr sz="1400" b="0">
                <a:solidFill>
                  <a:srgbClr val="1A1F2B"/>
                </a:solidFill>
                <a:latin typeface="Calibri"/>
              </a:rPr>
              <a:t> service_date + trip_id +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stop_sequence — never stop_id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poll_interval_s</a:t>
            </a:r>
            <a:r>
              <a:rPr sz="1400" b="0">
                <a:solidFill>
                  <a:srgbClr val="1A1F2B"/>
                </a:solidFill>
                <a:latin typeface="Calibri"/>
              </a:rPr>
              <a:t> travels per row: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the error bar on every arrival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754880"/>
            <a:ext cx="3962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null ≠ 0</a:t>
            </a:r>
            <a:r>
              <a:rPr sz="1500" b="0">
                <a:solidFill>
                  <a:srgbClr val="B45309"/>
                </a:solidFill>
                <a:latin typeface="Calibri"/>
              </a:rPr>
              <a:t> — and that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B45309"/>
                </a:solidFill>
                <a:latin typeface="Calibri"/>
              </a:rPr>
              <a:t>distinction is the whole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Absent is not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Borna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Calibri"/>
              </a:rPr>
              <a:t>GTFS-Realtime is proto2: a field can be </a:t>
            </a:r>
            <a:r>
              <a:rPr sz="1800" b="1">
                <a:solidFill>
                  <a:srgbClr val="1A1F2B"/>
                </a:solidFill>
                <a:latin typeface="Calibri"/>
              </a:rPr>
              <a:t>genuinely absent</a:t>
            </a:r>
            <a:r>
              <a:rPr sz="1800" b="0">
                <a:solidFill>
                  <a:srgbClr val="1A1F2B"/>
                </a:solidFill>
                <a:latin typeface="Calibri"/>
              </a:rPr>
              <a:t>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Calibri"/>
              </a:rPr>
              <a:t>`delay = 0` means on time.  Absent means </a:t>
            </a:r>
            <a:r>
              <a:rPr sz="1800" b="1">
                <a:solidFill>
                  <a:srgbClr val="1A1F2B"/>
                </a:solidFill>
                <a:latin typeface="Calibri"/>
              </a:rPr>
              <a:t>no information</a:t>
            </a:r>
            <a:r>
              <a:rPr sz="1800" b="0">
                <a:solidFill>
                  <a:srgbClr val="1A1F2B"/>
                </a:solidFill>
                <a:latin typeface="Calibri"/>
              </a:rPr>
              <a:t>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>
                <a:solidFill>
                  <a:srgbClr val="1A1F2B"/>
                </a:solidFill>
                <a:latin typeface="Calibri"/>
              </a:rPr>
              <a:t>Read the natural way, protobuf returns `0` for </a:t>
            </a:r>
            <a:r>
              <a:rPr sz="1800" b="1">
                <a:solidFill>
                  <a:srgbClr val="1A1F2B"/>
                </a:solidFill>
                <a:latin typeface="Calibri"/>
              </a:rPr>
              <a:t>both</a:t>
            </a:r>
            <a:r>
              <a:rPr sz="1800" b="0">
                <a:solidFill>
                  <a:srgbClr val="1A1F2B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10911535" cy="1691640"/>
          </a:xfrm>
          <a:prstGeom prst="roundRect">
            <a:avLst>
              <a:gd name="adj" fmla="val 4000"/>
            </a:avLst>
          </a:prstGeom>
          <a:solidFill>
            <a:srgbClr val="FDF4E8"/>
          </a:solidFill>
          <a:ln w="9525">
            <a:solidFill>
              <a:srgbClr val="E8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30168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B45309"/>
                </a:solidFill>
                <a:latin typeface="Calibri"/>
              </a:rPr>
              <a:t>44.2%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703320"/>
            <a:ext cx="66138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of records carry </a:t>
            </a:r>
            <a:r>
              <a:rPr sz="1600" b="1">
                <a:solidFill>
                  <a:srgbClr val="1A1F2B"/>
                </a:solidFill>
                <a:latin typeface="Calibri"/>
              </a:rPr>
              <a:t>no delay value at all</a:t>
            </a:r>
            <a:r>
              <a:rPr sz="1600" b="0">
                <a:solidFill>
                  <a:srgbClr val="1A1F2B"/>
                </a:solidFill>
                <a:latin typeface="Calibri"/>
              </a:rPr>
              <a:t> — 54,638 of 123,735.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19 of 28 operators never populate it.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Written the obvious way, we'd have reported every one as </a:t>
            </a:r>
            <a:r>
              <a:rPr sz="1600" b="1">
                <a:solidFill>
                  <a:srgbClr val="1A1F2B"/>
                </a:solidFill>
                <a:latin typeface="Calibri"/>
              </a:rPr>
              <a:t>exactly on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Verified against raw protobuf across 408,149 rows — 0 violations.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Implemented end-to-end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Borna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511 feed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protobuf, 120s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95728" y="2505456"/>
            <a:ext cx="256032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15768" y="219456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poller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archive first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71416" y="2505456"/>
            <a:ext cx="256032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91456" y="219456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data/raw/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system of record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47104" y="2505456"/>
            <a:ext cx="256032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67144" y="219456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producer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validate → publish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22792" y="2505456"/>
            <a:ext cx="256032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42832" y="219456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Kafka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4 topics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3429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arrival resolver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STOPPED_AT → arrival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31920" y="3739896"/>
            <a:ext cx="457200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3429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aggregator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join predictions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75120" y="3739896"/>
            <a:ext cx="457200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0" y="342900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outputs/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metrics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44000" y="3739896"/>
            <a:ext cx="457200" cy="146304"/>
          </a:xfrm>
          <a:prstGeom prst="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39" y="342900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 w="1587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F2B"/>
                </a:solidFill>
                <a:latin typeface="Calibri"/>
              </a:rPr>
              <a:t>ML model</a:t>
            </a:r>
          </a:p>
          <a:p>
            <a:pPr algn="ctr"/>
            <a:r>
              <a:rPr sz="1000">
                <a:solidFill>
                  <a:srgbClr val="5B667A"/>
                </a:solidFill>
                <a:latin typeface="Calibri"/>
              </a:rPr>
              <a:t>corrected 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Why this shape:</a:t>
            </a:r>
            <a:r>
              <a:rPr sz="1500" b="0">
                <a:solidFill>
                  <a:srgbClr val="1A1F2B"/>
                </a:solidFill>
                <a:latin typeface="Calibri"/>
              </a:rPr>
              <a:t> the poller only writes to disk; everything downstream only reads from disk.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Live and replay differ </a:t>
            </a:r>
            <a:r>
              <a:rPr sz="1500" b="1">
                <a:solidFill>
                  <a:srgbClr val="1A1F2B"/>
                </a:solidFill>
                <a:latin typeface="Calibri"/>
              </a:rPr>
              <a:t>only</a:t>
            </a:r>
            <a:r>
              <a:rPr sz="1500" b="0">
                <a:solidFill>
                  <a:srgbClr val="1A1F2B"/>
                </a:solidFill>
                <a:latin typeface="Calibri"/>
              </a:rPr>
              <a:t> in whether new files appear — so the grader runs the real pipeline, not a mock.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Kafka is transport, not storage.</a:t>
            </a:r>
            <a:r>
              <a:rPr sz="1500" b="0">
                <a:solidFill>
                  <a:srgbClr val="1A1F2B"/>
                </a:solidFill>
                <a:latin typeface="Calibri"/>
              </a:rPr>
              <a:t> 24h retention on purpose: GTFS-RT has no history endpoint, so the archive is the system of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One concrete example: deriving a single arrival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6400800" cy="22860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943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400" b="0">
                <a:solidFill>
                  <a:srgbClr val="1A1F2B"/>
                </a:solidFill>
                <a:latin typeface="Consolas"/>
              </a:rPr>
              <a:t>vehicle 5885, trip SF:12053041_M11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400" b="0">
                <a:solidFill>
                  <a:srgbClr val="1A1F2B"/>
                </a:solidFill>
                <a:latin typeface="Consolas"/>
              </a:rPr>
              <a:t>poll 1   IN_TRANSIT_TO  stop_sequence 46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400" b="0">
                <a:solidFill>
                  <a:srgbClr val="1A1F2B"/>
                </a:solidFill>
                <a:latin typeface="Consolas"/>
              </a:rPr>
              <a:t>poll 2   </a:t>
            </a:r>
            <a:r>
              <a:rPr sz="1400" b="1">
                <a:solidFill>
                  <a:srgbClr val="B45309"/>
                </a:solidFill>
                <a:latin typeface="Consolas"/>
              </a:rPr>
              <a:t>STOPPED_AT     stop_sequence 47</a:t>
            </a:r>
            <a:r>
              <a:rPr sz="1400" b="0">
                <a:solidFill>
                  <a:srgbClr val="1A1F2B"/>
                </a:solidFill>
                <a:latin typeface="Consolas"/>
              </a:rPr>
              <a:t>   ← arrival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400" b="0">
                <a:solidFill>
                  <a:srgbClr val="1A1F2B"/>
                </a:solidFill>
                <a:latin typeface="Consolas"/>
              </a:rPr>
              <a:t>poll 3   STOPPED_AT     stop_sequence 47    (suppressed)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400" b="0">
                <a:solidFill>
                  <a:srgbClr val="1A1F2B"/>
                </a:solidFill>
                <a:latin typeface="Consolas"/>
              </a:rPr>
              <a:t>poll 4   IN_TRANSIT_TO  stop_sequence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414497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The arrival is the </a:t>
            </a:r>
            <a:r>
              <a:rPr sz="1500" b="1">
                <a:solidFill>
                  <a:srgbClr val="1A1F2B"/>
                </a:solidFill>
                <a:latin typeface="Calibri"/>
              </a:rPr>
              <a:t>first</a:t>
            </a:r>
            <a:r>
              <a:rPr sz="1500" b="0">
                <a:solidFill>
                  <a:srgbClr val="1A1F2B"/>
                </a:solidFill>
                <a:latin typeface="Calibri"/>
              </a:rPr>
              <a:t> sighting,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not the last.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A parked bus reports STOPPED_AT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on every poll — the last one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would measure </a:t>
            </a:r>
            <a:r>
              <a:rPr sz="1500" b="1">
                <a:solidFill>
                  <a:srgbClr val="1A1F2B"/>
                </a:solidFill>
                <a:latin typeface="Calibri"/>
              </a:rPr>
              <a:t>departure</a:t>
            </a:r>
            <a:r>
              <a:rPr sz="1500" b="0">
                <a:solidFill>
                  <a:srgbClr val="1A1F2B"/>
                </a:solidFill>
                <a:latin typeface="Calibri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So the resolver holds per-trip state,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which is </a:t>
            </a:r>
            <a:r>
              <a:rPr sz="1500" b="1">
                <a:solidFill>
                  <a:srgbClr val="1A1F2B"/>
                </a:solidFill>
                <a:latin typeface="Calibri"/>
              </a:rPr>
              <a:t>why the Kafka key matters</a:t>
            </a:r>
            <a:r>
              <a:rPr sz="1500" b="0">
                <a:solidFill>
                  <a:srgbClr val="1A1F2B"/>
                </a:solidFill>
                <a:latin typeface="Calibri"/>
              </a:rPr>
              <a:t>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all observations of one trip must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arrive in order, in one partition.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Every arrival is stamped with </a:t>
            </a:r>
            <a:r>
              <a:rPr sz="1500" b="1">
                <a:solidFill>
                  <a:srgbClr val="1A1F2B"/>
                </a:solidFill>
                <a:latin typeface="Calibri"/>
              </a:rPr>
              <a:t>how</a:t>
            </a:r>
            <a:r>
              <a:rPr sz="1500" b="0">
                <a:solidFill>
                  <a:srgbClr val="1A1F2B"/>
                </a:solidFill>
                <a:latin typeface="Calibri"/>
              </a:rPr>
              <a:t> it was derived — method, confidence, poll_interval_s.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Resolver availability varies by operator (15 of 28), so without provenance </a:t>
            </a:r>
            <a:r>
              <a:rPr sz="1500" b="1">
                <a:solidFill>
                  <a:srgbClr val="1A1F2B"/>
                </a:solidFill>
                <a:latin typeface="Calibri"/>
              </a:rPr>
              <a:t>“agency” silently becomes a proxy for data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Result: how wrong are Muni's predictions?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5B667A"/>
                </a:solidFill>
                <a:latin typeface="Calibri"/>
              </a:rPr>
              <a:t>SF Muni · 25,501 prediction–arrival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Aatish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76856"/>
            <a:ext cx="7680960" cy="1905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Calibri"/>
              </a:rPr>
              <a:t>lead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659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Calibri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659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Calibri"/>
              </a:rPr>
              <a:t>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65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Calibri"/>
              </a:rPr>
              <a:t>median |err|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659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Calibri"/>
              </a:rPr>
              <a:t>within 60s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5000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0–2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3500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509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500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−11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5000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13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3500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92.7%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1576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2–5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71576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4,603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1576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−46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71576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50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7157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59.5%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08152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5–10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0815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4,897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08152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−66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0815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70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08152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43.3%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44728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10–20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44728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8,919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44728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−98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44728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102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472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31.1%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81304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20+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81304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6,573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81304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B45309"/>
                </a:solidFill>
                <a:latin typeface="Calibri"/>
              </a:rPr>
              <a:t>−142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8130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146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130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23.0%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361688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Negative bias = the agency predicts EARLIER than reality.</a:t>
            </a:r>
            <a:r>
              <a:rPr sz="1600" b="0">
                <a:solidFill>
                  <a:srgbClr val="1A1F2B"/>
                </a:solidFill>
                <a:latin typeface="Calibri"/>
              </a:rPr>
              <a:t> Buses arrive later than promised,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and it worsens with horizon. Short-horizon ETAs are excellent; 20-minute ETAs are not.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14884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Credible because the two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halves are </a:t>
            </a:r>
            <a:r>
              <a:rPr sz="1400" b="1">
                <a:solidFill>
                  <a:srgbClr val="5B667A"/>
                </a:solidFill>
                <a:latin typeface="Calibri"/>
              </a:rPr>
              <a:t>independent</a:t>
            </a:r>
            <a:r>
              <a:rPr sz="1400" b="0">
                <a:solidFill>
                  <a:srgbClr val="5B667A"/>
                </a:solidFill>
                <a:latin typeface="Calibri"/>
              </a:rPr>
              <a:t>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prediction ← TripUpdates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actual ← VehiclePositions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Deriving arrivals from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predictions would measure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the agency </a:t>
            </a:r>
            <a:r>
              <a:rPr sz="1400" b="1">
                <a:solidFill>
                  <a:srgbClr val="5B667A"/>
                </a:solidFill>
                <a:latin typeface="Calibri"/>
              </a:rPr>
              <a:t>against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Lesson learned: the wrong answer looked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911535" cy="1508760"/>
          </a:xfrm>
          <a:prstGeom prst="roundRect">
            <a:avLst>
              <a:gd name="adj" fmla="val 4000"/>
            </a:avLst>
          </a:prstGeom>
          <a:solidFill>
            <a:srgbClr val="FDF4E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1027145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Day-of-week </a:t>
            </a:r>
            <a:r>
              <a:rPr sz="1600" b="1">
                <a:solidFill>
                  <a:srgbClr val="1A1F2B"/>
                </a:solidFill>
                <a:latin typeface="Calibri"/>
              </a:rPr>
              <a:t>improved</a:t>
            </a:r>
            <a:r>
              <a:rPr sz="1600" b="0">
                <a:solidFill>
                  <a:srgbClr val="1A1F2B"/>
                </a:solidFill>
                <a:latin typeface="Calibri"/>
              </a:rPr>
              <a:t> test MAE by 10 seconds. We removed it.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Monday appeared </a:t>
            </a:r>
            <a:r>
              <a:rPr sz="1600" b="1">
                <a:solidFill>
                  <a:srgbClr val="1A1F2B"/>
                </a:solidFill>
                <a:latin typeface="Calibri"/>
              </a:rPr>
              <a:t>only</a:t>
            </a:r>
            <a:r>
              <a:rPr sz="1600" b="0">
                <a:solidFill>
                  <a:srgbClr val="1A1F2B"/>
                </a:solidFill>
                <a:latin typeface="Calibri"/>
              </a:rPr>
              <a:t> in the test window — 31% of test rows had a value the model had never seen, silently inheriting another day's correction through bin placement.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B45309"/>
                </a:solidFill>
                <a:latin typeface="Calibri"/>
              </a:rPr>
              <a:t>A number you can't account for is not a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Same pattern across every real bug we hit: a mislabelled partition column, a duplicate replay that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doubled n while leaving every average identical, an API key leaked through an exception message.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None crashed. Several produced better-looking numbers.</a:t>
            </a:r>
            <a:r>
              <a:rPr sz="1500" b="0">
                <a:solidFill>
                  <a:srgbClr val="1A1F2B"/>
                </a:solidFill>
                <a:latin typeface="Calibri"/>
              </a:rPr>
              <a:t> Reading the code would have caught none of them 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measuring against real data did.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Limitation, and the 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Aatish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72887" cy="28346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6E99"/>
                </a:solidFill>
                <a:latin typeface="Calibri"/>
              </a:rPr>
              <a:t>Limitation —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24247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We capture only </a:t>
            </a:r>
            <a:r>
              <a:rPr sz="1400" b="1">
                <a:solidFill>
                  <a:srgbClr val="1A1F2B"/>
                </a:solidFill>
                <a:latin typeface="Calibri"/>
              </a:rPr>
              <a:t>~21% of stop events.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Buses dwell for seconds; we sample every 120s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(a 60 req/hour quota).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Worse, it isn't random: capture probability scales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with dwell time, so </a:t>
            </a:r>
            <a:r>
              <a:rPr sz="1400" b="1">
                <a:solidFill>
                  <a:srgbClr val="1A1F2B"/>
                </a:solidFill>
                <a:latin typeface="Calibri"/>
              </a:rPr>
              <a:t>terminals and layovers are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over-represented</a:t>
            </a:r>
            <a:r>
              <a:rPr sz="1400" b="1">
                <a:solidFill>
                  <a:srgbClr val="1A1F2B"/>
                </a:solidFill>
                <a:latin typeface="Calibri"/>
              </a:rPr>
              <a:t>, and derived arrivals are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biased late.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So our headline bias is an upper bound,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not a point estimate.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965960"/>
            <a:ext cx="5272887" cy="28346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19456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6E99"/>
                </a:solidFill>
                <a:latin typeface="Calibri"/>
              </a:rPr>
              <a:t>Next step — realistic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651760"/>
            <a:ext cx="4724247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Request a rate-limit increase from 511.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One email. It attacks all three problems at once: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more stop events captured, tighter timestamps,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and less selection bias toward long dwells.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Then: GTFS-Static for true on-time performance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against the published schedule, and a geofence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resolver for the 13 operators where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STOPPED_AT never fires.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1A1F2B"/>
                </a:solidFill>
                <a:latin typeface="Calibri"/>
              </a:rPr>
              <a:t>One command, no API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34640"/>
            <a:ext cx="5669280" cy="9144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09067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2200" b="0">
                <a:solidFill>
                  <a:srgbClr val="1A1F2B"/>
                </a:solidFill>
                <a:latin typeface="Consolas"/>
              </a:rPr>
              <a:t>make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8803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5B667A"/>
                </a:solidFill>
                <a:latin typeface="Calibri"/>
              </a:rPr>
              <a:t>Kafka → replay → arrivals → metrics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5B667A"/>
                </a:solidFill>
                <a:latin typeface="Calibri"/>
              </a:rPr>
              <a:t>→ 6 acceptance checks, in </a:t>
            </a:r>
            <a:r>
              <a:rPr sz="1600" b="1">
                <a:solidFill>
                  <a:srgbClr val="5B667A"/>
                </a:solidFill>
                <a:latin typeface="Calibri"/>
              </a:rPr>
              <a:t>1 min 59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00" b="0">
                <a:solidFill>
                  <a:srgbClr val="1A1F2B"/>
                </a:solidFill>
                <a:latin typeface="Calibri"/>
              </a:rPr>
              <a:t>83 tests  ·  6/6 acceptance checks  ·  1.67 M records replayed, 0 dead-lettered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00" b="0">
                <a:solidFill>
                  <a:srgbClr val="1A1F2B"/>
                </a:solidFill>
                <a:latin typeface="Calibri"/>
              </a:rPr>
              <a:t>Verified from a clean extract of the submitted ZIP.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0B6E99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Calibri"/>
              </a:rPr>
              <a:t>Appendix: bounded AI element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463040" cy="3810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4572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Calibri"/>
              </a:rPr>
              <a:t>appendix —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Predict the residual  (actual − predicted),  apply it as a correction. Predicting 0 = trusting the agency.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98648"/>
            <a:ext cx="6583680" cy="19050"/>
          </a:xfrm>
          <a:prstGeom prst="rect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931920" y="26060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Calibri"/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6060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6E99"/>
                </a:solidFill>
                <a:latin typeface="Calibri"/>
              </a:rPr>
              <a:t>beats agency?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trust the agency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99008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195.2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9008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add global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3375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215.1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3375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worse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8503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add mean per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68503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206.7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68503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A1F2B"/>
                </a:solidFill>
                <a:latin typeface="Calibri"/>
              </a:rPr>
              <a:t>worse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3250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gradient boosting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032504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166.6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032504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−14.7%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514600"/>
            <a:ext cx="37792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Both naive corrections make it worse.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Residuals are right-skewed, so adding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the mean overcorrects the typical case.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Leakage guard:</a:t>
            </a:r>
            <a:r>
              <a:rPr sz="1400" b="0">
                <a:solidFill>
                  <a:srgbClr val="1A1F2B"/>
                </a:solidFill>
                <a:latin typeface="Calibri"/>
              </a:rPr>
              <a:t> labels come from GPS,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features from predictions — different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feeds, so the label can't contain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1A1F2B"/>
                </a:solidFill>
                <a:latin typeface="Calibri"/>
              </a:rPr>
              <a:t>the feature.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67A"/>
                </a:solidFill>
                <a:latin typeface="Calibri"/>
              </a:rPr>
              <a:t>Fallback enforced in code: if the model doesn't beat its baseline, serve the agency's ETA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